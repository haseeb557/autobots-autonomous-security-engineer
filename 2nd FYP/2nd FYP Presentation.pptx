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Chonburi" charset="1" panose="00000500000000000000"/>
      <p:regular r:id="rId32"/>
    </p:embeddedFont>
    <p:embeddedFont>
      <p:font typeface="Telegraf" charset="1" panose="00000500000000000000"/>
      <p:regular r:id="rId33"/>
    </p:embeddedFont>
    <p:embeddedFont>
      <p:font typeface="Telegraf Medium" charset="1" panose="00000600000000000000"/>
      <p:regular r:id="rId34"/>
    </p:embeddedFont>
    <p:embeddedFont>
      <p:font typeface="Telegraf Bold" charset="1" panose="00000800000000000000"/>
      <p:regular r:id="rId35"/>
    </p:embeddedFont>
    <p:embeddedFont>
      <p:font typeface="Yeseva One" charset="1" panose="00000500000000000000"/>
      <p:regular r:id="rId36"/>
    </p:embeddedFont>
    <p:embeddedFont>
      <p:font typeface="Garet" charset="1" panose="00000000000000000000"/>
      <p:regular r:id="rId37"/>
    </p:embeddedFont>
    <p:embeddedFont>
      <p:font typeface="Garet Bold" charset="1" panose="00000000000000000000"/>
      <p:regular r:id="rId38"/>
    </p:embeddedFont>
    <p:embeddedFont>
      <p:font typeface="Canva Sans Bold" charset="1" panose="020B0803030501040103"/>
      <p:regular r:id="rId39"/>
    </p:embeddedFont>
    <p:embeddedFont>
      <p:font typeface="Canva Sans" charset="1" panose="020B0503030501040103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embeddings/oleObject1.bin" Type="http://schemas.openxmlformats.org/officeDocument/2006/relationships/oleObject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24393" y="2892137"/>
            <a:ext cx="6366163" cy="6366163"/>
          </a:xfrm>
          <a:custGeom>
            <a:avLst/>
            <a:gdLst/>
            <a:ahLst/>
            <a:cxnLst/>
            <a:rect r="r" b="b" t="t" l="l"/>
            <a:pathLst>
              <a:path h="6366163" w="6366163">
                <a:moveTo>
                  <a:pt x="0" y="0"/>
                </a:moveTo>
                <a:lnTo>
                  <a:pt x="6366164" y="0"/>
                </a:lnTo>
                <a:lnTo>
                  <a:pt x="6366164" y="6366163"/>
                </a:lnTo>
                <a:lnTo>
                  <a:pt x="0" y="63661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68700" y="299923"/>
            <a:ext cx="8477550" cy="19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0"/>
              </a:lnSpc>
              <a:spcBef>
                <a:spcPct val="0"/>
              </a:spcBef>
            </a:pPr>
            <a:r>
              <a:rPr lang="en-US" sz="11429" spc="-560">
                <a:solidFill>
                  <a:srgbClr val="000000"/>
                </a:solidFill>
                <a:latin typeface="Chonburi"/>
                <a:ea typeface="Chonburi"/>
                <a:cs typeface="Chonburi"/>
                <a:sym typeface="Chonburi"/>
              </a:rPr>
              <a:t>AUTOBOTs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17772" y="2091002"/>
            <a:ext cx="8779406" cy="61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</a:pPr>
            <a:r>
              <a:rPr lang="en-US" sz="5158" spc="-252">
                <a:solidFill>
                  <a:srgbClr val="545454"/>
                </a:solidFill>
                <a:latin typeface="Telegraf"/>
                <a:ea typeface="Telegraf"/>
                <a:cs typeface="Telegraf"/>
                <a:sym typeface="Telegraf"/>
              </a:rPr>
              <a:t>Autonomous Security Engineer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50744" y="8914427"/>
            <a:ext cx="1623060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88473" y="739646"/>
            <a:ext cx="3784070" cy="1054810"/>
          </a:xfrm>
          <a:custGeom>
            <a:avLst/>
            <a:gdLst/>
            <a:ahLst/>
            <a:cxnLst/>
            <a:rect r="r" b="b" t="t" l="l"/>
            <a:pathLst>
              <a:path h="1054810" w="3784070">
                <a:moveTo>
                  <a:pt x="0" y="0"/>
                </a:moveTo>
                <a:lnTo>
                  <a:pt x="3784070" y="0"/>
                </a:lnTo>
                <a:lnTo>
                  <a:pt x="3784070" y="1054809"/>
                </a:lnTo>
                <a:lnTo>
                  <a:pt x="0" y="10548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68700" y="299923"/>
            <a:ext cx="8477550" cy="196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0"/>
              </a:lnSpc>
              <a:spcBef>
                <a:spcPct val="0"/>
              </a:spcBef>
            </a:pPr>
            <a:r>
              <a:rPr lang="en-US" sz="11429" spc="-560">
                <a:solidFill>
                  <a:srgbClr val="000000"/>
                </a:solidFill>
                <a:latin typeface="Chonburi"/>
                <a:ea typeface="Chonburi"/>
                <a:cs typeface="Chonburi"/>
                <a:sym typeface="Chonburi"/>
              </a:rPr>
              <a:t>AUTOBOTs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7772" y="2091002"/>
            <a:ext cx="8779406" cy="61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8"/>
              </a:lnSpc>
            </a:pPr>
            <a:r>
              <a:rPr lang="en-US" sz="5158" spc="-252">
                <a:solidFill>
                  <a:srgbClr val="545454"/>
                </a:solidFill>
                <a:latin typeface="Telegraf"/>
                <a:ea typeface="Telegraf"/>
                <a:cs typeface="Telegraf"/>
                <a:sym typeface="Telegraf"/>
              </a:rPr>
              <a:t>Autonomous Security Engineer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90822" y="8948490"/>
            <a:ext cx="8906356" cy="52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8"/>
              </a:lnSpc>
              <a:spcBef>
                <a:spcPct val="0"/>
              </a:spcBef>
            </a:pPr>
            <a:r>
              <a:rPr lang="en-US" b="true" sz="2834" spc="-138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Faculty of Computer Science &amp; Engineering (FCSE)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67466" y="9377610"/>
            <a:ext cx="13153067" cy="53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8"/>
              </a:lnSpc>
              <a:spcBef>
                <a:spcPct val="0"/>
              </a:spcBef>
            </a:pPr>
            <a:r>
              <a:rPr lang="en-US" b="true" sz="2934" spc="-143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Ghulam Ishaq Khan Institute of Engineering Sciences and Technology, Pakistan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29904" y="3149969"/>
            <a:ext cx="8367274" cy="204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b="true" sz="2907" spc="-142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Team Members :</a:t>
            </a:r>
          </a:p>
          <a:p>
            <a:pPr algn="l">
              <a:lnSpc>
                <a:spcPts val="3168"/>
              </a:lnSpc>
            </a:pPr>
            <a:r>
              <a:rPr lang="en-US" b="true" sz="2907" spc="-142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Muhammad Bilal Aslam               CYS            2022361</a:t>
            </a:r>
          </a:p>
          <a:p>
            <a:pPr algn="l">
              <a:lnSpc>
                <a:spcPts val="3168"/>
              </a:lnSpc>
            </a:pPr>
            <a:r>
              <a:rPr lang="en-US" b="true" sz="2907" spc="-142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Muhammad Bilal                              CYS            2022359</a:t>
            </a:r>
          </a:p>
          <a:p>
            <a:pPr algn="l">
              <a:lnSpc>
                <a:spcPts val="3168"/>
              </a:lnSpc>
            </a:pPr>
            <a:r>
              <a:rPr lang="en-US" b="true" sz="2907" spc="-142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Syed Ahmed Haseeb                    CYS            2022557</a:t>
            </a:r>
          </a:p>
          <a:p>
            <a:pPr algn="l">
              <a:lnSpc>
                <a:spcPts val="3168"/>
              </a:lnSpc>
            </a:pPr>
            <a:r>
              <a:rPr lang="en-US" b="true" sz="2907" spc="-142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Muhammad Hassan Shah          CYS            2022385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71607" y="5696941"/>
            <a:ext cx="6544787" cy="2040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907" spc="-142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Supervisor:</a:t>
            </a:r>
          </a:p>
          <a:p>
            <a:pPr algn="l">
              <a:lnSpc>
                <a:spcPts val="3168"/>
              </a:lnSpc>
            </a:pPr>
            <a:r>
              <a:rPr lang="en-US" sz="2907" spc="-142" b="true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Mr. Hafiz Syed Ahmed Qasim</a:t>
            </a:r>
          </a:p>
          <a:p>
            <a:pPr algn="l">
              <a:lnSpc>
                <a:spcPts val="3168"/>
              </a:lnSpc>
            </a:pPr>
          </a:p>
          <a:p>
            <a:pPr algn="l">
              <a:lnSpc>
                <a:spcPts val="3168"/>
              </a:lnSpc>
            </a:pPr>
            <a:r>
              <a:rPr lang="en-US" sz="2907" spc="-142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Co-supervisor:</a:t>
            </a:r>
          </a:p>
          <a:p>
            <a:pPr algn="l">
              <a:lnSpc>
                <a:spcPts val="3168"/>
              </a:lnSpc>
            </a:pPr>
            <a:r>
              <a:rPr lang="en-US" b="true" sz="2907" spc="-142">
                <a:solidFill>
                  <a:srgbClr val="000000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Mr. Muhammad Ahmad Nawaz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3559568" y="2498382"/>
          <a:ext cx="9429750" cy="7243762"/>
        </p:xfrm>
        <a:graphic>
          <a:graphicData uri="http://schemas.openxmlformats.org/presentationml/2006/ole">
            <p:oleObj imgW="11315700" imgH="91313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028700" y="8027326"/>
            <a:ext cx="5403552" cy="1043178"/>
          </a:xfrm>
          <a:custGeom>
            <a:avLst/>
            <a:gdLst/>
            <a:ahLst/>
            <a:cxnLst/>
            <a:rect r="r" b="b" t="t" l="l"/>
            <a:pathLst>
              <a:path h="1043178" w="5403552">
                <a:moveTo>
                  <a:pt x="0" y="0"/>
                </a:moveTo>
                <a:lnTo>
                  <a:pt x="5403552" y="0"/>
                </a:lnTo>
                <a:lnTo>
                  <a:pt x="5403552" y="1043177"/>
                </a:lnTo>
                <a:lnTo>
                  <a:pt x="0" y="1043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89" r="-9032" b="-188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20432"/>
            <a:ext cx="11061068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Evaluation Criteria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768487" y="2541735"/>
            <a:ext cx="12751025" cy="694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113" indent="-280556" lvl="1">
              <a:lnSpc>
                <a:spcPts val="3638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Recent studies show that 45–66% of AI-generated code (ChatGPT, Copilot, etc.) contains security vulnerabilities, creating serious risks for software integrity.</a:t>
            </a:r>
          </a:p>
          <a:p>
            <a:pPr algn="l" marL="561113" indent="-280556" lvl="1">
              <a:lnSpc>
                <a:spcPts val="3638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Hiring Pen-testers is expensive &amp; curre</a:t>
            </a: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 AI pentesting solutions are not production-ready:</a:t>
            </a:r>
          </a:p>
          <a:p>
            <a:pPr algn="l" marL="1683338" indent="-420835" lvl="3">
              <a:lnSpc>
                <a:spcPts val="3638"/>
              </a:lnSpc>
              <a:buFont typeface="Arial"/>
              <a:buChar char="￭"/>
            </a:pP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Promising systems like XBOW and Google Naptime are still in development.</a:t>
            </a:r>
          </a:p>
          <a:p>
            <a:pPr algn="l" marL="1683338" indent="-420835" lvl="3">
              <a:lnSpc>
                <a:spcPts val="3638"/>
              </a:lnSpc>
              <a:buFont typeface="Arial"/>
              <a:buChar char="￭"/>
            </a:pP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Existing tools lack autonomy, struggle with accuracy, and often fail compliance and security standards.</a:t>
            </a:r>
          </a:p>
          <a:p>
            <a:pPr algn="l" marL="561113" indent="-280556" lvl="1">
              <a:lnSpc>
                <a:spcPts val="3638"/>
              </a:lnSpc>
              <a:buFont typeface="Arial"/>
              <a:buChar char="•"/>
            </a:pP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There is a critical need for a secure, intelligent, multi-agent system that can:</a:t>
            </a:r>
          </a:p>
          <a:p>
            <a:pPr algn="l" marL="1683338" indent="-420835" lvl="3">
              <a:lnSpc>
                <a:spcPts val="3638"/>
              </a:lnSpc>
              <a:buFont typeface="Arial"/>
              <a:buChar char="￭"/>
            </a:pP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Operate with minimal supervision</a:t>
            </a:r>
          </a:p>
          <a:p>
            <a:pPr algn="l" marL="1683338" indent="-420835" lvl="3">
              <a:lnSpc>
                <a:spcPts val="3638"/>
              </a:lnSpc>
              <a:buFont typeface="Arial"/>
              <a:buChar char="￭"/>
            </a:pP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dapt to evolving and complex threats</a:t>
            </a:r>
          </a:p>
          <a:p>
            <a:pPr algn="l" marL="1683338" indent="-420835" lvl="3">
              <a:lnSpc>
                <a:spcPts val="3638"/>
              </a:lnSpc>
              <a:buFont typeface="Arial"/>
              <a:buChar char="￭"/>
            </a:pPr>
            <a:r>
              <a:rPr lang="en-US" sz="259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Perform reliable, end-to-end vulnerability assessment at scale</a:t>
            </a:r>
          </a:p>
          <a:p>
            <a:pPr algn="ctr">
              <a:lnSpc>
                <a:spcPts val="469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06230" y="1538165"/>
            <a:ext cx="15056540" cy="85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6"/>
              </a:lnSpc>
            </a:pPr>
            <a:r>
              <a:rPr lang="en-US" sz="4897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Problem Statement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34950" y="322761"/>
            <a:ext cx="5975767" cy="951812"/>
            <a:chOff x="0" y="0"/>
            <a:chExt cx="1573865" cy="250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73865" cy="250683"/>
            </a:xfrm>
            <a:custGeom>
              <a:avLst/>
              <a:gdLst/>
              <a:ahLst/>
              <a:cxnLst/>
              <a:rect r="r" b="b" t="t" l="l"/>
              <a:pathLst>
                <a:path h="250683" w="1573865">
                  <a:moveTo>
                    <a:pt x="66073" y="0"/>
                  </a:moveTo>
                  <a:lnTo>
                    <a:pt x="1507791" y="0"/>
                  </a:lnTo>
                  <a:cubicBezTo>
                    <a:pt x="1525315" y="0"/>
                    <a:pt x="1542121" y="6961"/>
                    <a:pt x="1554512" y="19352"/>
                  </a:cubicBezTo>
                  <a:cubicBezTo>
                    <a:pt x="1566903" y="31744"/>
                    <a:pt x="1573865" y="48549"/>
                    <a:pt x="1573865" y="66073"/>
                  </a:cubicBezTo>
                  <a:lnTo>
                    <a:pt x="1573865" y="184610"/>
                  </a:lnTo>
                  <a:cubicBezTo>
                    <a:pt x="1573865" y="221101"/>
                    <a:pt x="1544283" y="250683"/>
                    <a:pt x="1507791" y="250683"/>
                  </a:cubicBezTo>
                  <a:lnTo>
                    <a:pt x="66073" y="250683"/>
                  </a:lnTo>
                  <a:cubicBezTo>
                    <a:pt x="29582" y="250683"/>
                    <a:pt x="0" y="221101"/>
                    <a:pt x="0" y="184610"/>
                  </a:cubicBezTo>
                  <a:lnTo>
                    <a:pt x="0" y="66073"/>
                  </a:lnTo>
                  <a:cubicBezTo>
                    <a:pt x="0" y="48549"/>
                    <a:pt x="6961" y="31744"/>
                    <a:pt x="19352" y="19352"/>
                  </a:cubicBezTo>
                  <a:cubicBezTo>
                    <a:pt x="31744" y="6961"/>
                    <a:pt x="48549" y="0"/>
                    <a:pt x="66073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73865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570934" y="475346"/>
            <a:ext cx="8603639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RECAP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666752" y="2189980"/>
            <a:ext cx="695449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Challenges Faced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73946" y="3923448"/>
            <a:ext cx="4878785" cy="2377743"/>
            <a:chOff x="0" y="0"/>
            <a:chExt cx="1416693" cy="6904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6693" cy="690445"/>
            </a:xfrm>
            <a:custGeom>
              <a:avLst/>
              <a:gdLst/>
              <a:ahLst/>
              <a:cxnLst/>
              <a:rect r="r" b="b" t="t" l="l"/>
              <a:pathLst>
                <a:path h="690445" w="1416693">
                  <a:moveTo>
                    <a:pt x="80930" y="0"/>
                  </a:moveTo>
                  <a:lnTo>
                    <a:pt x="1335764" y="0"/>
                  </a:lnTo>
                  <a:cubicBezTo>
                    <a:pt x="1380460" y="0"/>
                    <a:pt x="1416693" y="36233"/>
                    <a:pt x="1416693" y="80930"/>
                  </a:cubicBezTo>
                  <a:lnTo>
                    <a:pt x="1416693" y="609515"/>
                  </a:lnTo>
                  <a:cubicBezTo>
                    <a:pt x="1416693" y="654212"/>
                    <a:pt x="1380460" y="690445"/>
                    <a:pt x="1335764" y="690445"/>
                  </a:cubicBezTo>
                  <a:lnTo>
                    <a:pt x="80930" y="690445"/>
                  </a:lnTo>
                  <a:cubicBezTo>
                    <a:pt x="36233" y="690445"/>
                    <a:pt x="0" y="654212"/>
                    <a:pt x="0" y="609515"/>
                  </a:cubicBezTo>
                  <a:lnTo>
                    <a:pt x="0" y="80930"/>
                  </a:lnTo>
                  <a:cubicBezTo>
                    <a:pt x="0" y="36233"/>
                    <a:pt x="36233" y="0"/>
                    <a:pt x="80930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16693" cy="728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78168" y="4752233"/>
            <a:ext cx="4583699" cy="137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1"/>
              </a:lnSpc>
            </a:pPr>
            <a:r>
              <a:rPr lang="en-US" sz="2587">
                <a:solidFill>
                  <a:srgbClr val="FBFBFB"/>
                </a:solidFill>
                <a:latin typeface="Garet"/>
                <a:ea typeface="Garet"/>
                <a:cs typeface="Garet"/>
                <a:sym typeface="Garet"/>
              </a:rPr>
              <a:t>Difficulty aligning with multiple standards (GDPR, PCI-DSS, ISO 27001)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1489" y="4296684"/>
            <a:ext cx="4583699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Compliance Conflicts: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617595" y="3923448"/>
            <a:ext cx="5013449" cy="2440104"/>
            <a:chOff x="0" y="0"/>
            <a:chExt cx="6684599" cy="3253471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89776" y="0"/>
              <a:ext cx="6505047" cy="3253471"/>
              <a:chOff x="0" y="0"/>
              <a:chExt cx="1416693" cy="70855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416693" cy="708553"/>
              </a:xfrm>
              <a:custGeom>
                <a:avLst/>
                <a:gdLst/>
                <a:ahLst/>
                <a:cxnLst/>
                <a:rect r="r" b="b" t="t" l="l"/>
                <a:pathLst>
                  <a:path h="708553" w="1416693">
                    <a:moveTo>
                      <a:pt x="80930" y="0"/>
                    </a:moveTo>
                    <a:lnTo>
                      <a:pt x="1335764" y="0"/>
                    </a:lnTo>
                    <a:cubicBezTo>
                      <a:pt x="1380460" y="0"/>
                      <a:pt x="1416693" y="36233"/>
                      <a:pt x="1416693" y="80930"/>
                    </a:cubicBezTo>
                    <a:lnTo>
                      <a:pt x="1416693" y="627623"/>
                    </a:lnTo>
                    <a:cubicBezTo>
                      <a:pt x="1416693" y="672320"/>
                      <a:pt x="1380460" y="708553"/>
                      <a:pt x="1335764" y="708553"/>
                    </a:cubicBezTo>
                    <a:lnTo>
                      <a:pt x="80930" y="708553"/>
                    </a:lnTo>
                    <a:cubicBezTo>
                      <a:pt x="36233" y="708553"/>
                      <a:pt x="0" y="672320"/>
                      <a:pt x="0" y="627623"/>
                    </a:cubicBezTo>
                    <a:lnTo>
                      <a:pt x="0" y="80930"/>
                    </a:lnTo>
                    <a:cubicBezTo>
                      <a:pt x="0" y="36233"/>
                      <a:pt x="36233" y="0"/>
                      <a:pt x="80930" y="0"/>
                    </a:cubicBezTo>
                    <a:close/>
                  </a:path>
                </a:pathLst>
              </a:custGeom>
              <a:solidFill>
                <a:srgbClr val="C7DEEB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416693" cy="7466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727180" y="1178533"/>
              <a:ext cx="5464536" cy="163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sz="273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E</a:t>
              </a:r>
              <a:r>
                <a:rPr lang="en-US" sz="273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nsuring the system cannot be misused for harmful activities.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07172"/>
              <a:ext cx="6684599" cy="630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4"/>
                </a:lnSpc>
              </a:pPr>
              <a:r>
                <a:rPr lang="en-US" b="true" sz="2803">
                  <a:solidFill>
                    <a:srgbClr val="0D0F6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Security/Ethical Risks: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92312" y="3985808"/>
            <a:ext cx="4921742" cy="2315383"/>
            <a:chOff x="0" y="0"/>
            <a:chExt cx="6562323" cy="3087178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505047" cy="3087178"/>
              <a:chOff x="0" y="0"/>
              <a:chExt cx="1416693" cy="672337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416693" cy="672337"/>
              </a:xfrm>
              <a:custGeom>
                <a:avLst/>
                <a:gdLst/>
                <a:ahLst/>
                <a:cxnLst/>
                <a:rect r="r" b="b" t="t" l="l"/>
                <a:pathLst>
                  <a:path h="672337" w="1416693">
                    <a:moveTo>
                      <a:pt x="80930" y="0"/>
                    </a:moveTo>
                    <a:lnTo>
                      <a:pt x="1335764" y="0"/>
                    </a:lnTo>
                    <a:cubicBezTo>
                      <a:pt x="1380460" y="0"/>
                      <a:pt x="1416693" y="36233"/>
                      <a:pt x="1416693" y="80930"/>
                    </a:cubicBezTo>
                    <a:lnTo>
                      <a:pt x="1416693" y="591407"/>
                    </a:lnTo>
                    <a:cubicBezTo>
                      <a:pt x="1416693" y="636104"/>
                      <a:pt x="1380460" y="672337"/>
                      <a:pt x="1335764" y="672337"/>
                    </a:cubicBezTo>
                    <a:lnTo>
                      <a:pt x="80930" y="672337"/>
                    </a:lnTo>
                    <a:cubicBezTo>
                      <a:pt x="36233" y="672337"/>
                      <a:pt x="0" y="636104"/>
                      <a:pt x="0" y="591407"/>
                    </a:cubicBezTo>
                    <a:lnTo>
                      <a:pt x="0" y="80930"/>
                    </a:lnTo>
                    <a:cubicBezTo>
                      <a:pt x="0" y="36233"/>
                      <a:pt x="36233" y="0"/>
                      <a:pt x="80930" y="0"/>
                    </a:cubicBezTo>
                    <a:close/>
                  </a:path>
                </a:pathLst>
              </a:custGeom>
              <a:solidFill>
                <a:srgbClr val="65A4C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416693" cy="7104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196724" y="1108453"/>
              <a:ext cx="6111598" cy="1809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21"/>
                </a:lnSpc>
              </a:pPr>
              <a:r>
                <a:rPr lang="en-US" sz="2587">
                  <a:solidFill>
                    <a:srgbClr val="FBFBFB"/>
                  </a:solidFill>
                  <a:latin typeface="Garet"/>
                  <a:ea typeface="Garet"/>
                  <a:cs typeface="Garet"/>
                  <a:sym typeface="Garet"/>
                </a:rPr>
                <a:t>Need for high compute resources to support multi-agent AI.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876" y="443075"/>
              <a:ext cx="6561446" cy="6008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52"/>
                </a:lnSpc>
              </a:pPr>
              <a:r>
                <a:rPr lang="en-US" b="true" sz="2751">
                  <a:solidFill>
                    <a:srgbClr val="0D0F68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Computational Demands: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21248" y="322761"/>
            <a:ext cx="6489469" cy="951812"/>
            <a:chOff x="0" y="0"/>
            <a:chExt cx="1709160" cy="2506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9160" cy="250683"/>
            </a:xfrm>
            <a:custGeom>
              <a:avLst/>
              <a:gdLst/>
              <a:ahLst/>
              <a:cxnLst/>
              <a:rect r="r" b="b" t="t" l="l"/>
              <a:pathLst>
                <a:path h="250683" w="1709160">
                  <a:moveTo>
                    <a:pt x="60843" y="0"/>
                  </a:moveTo>
                  <a:lnTo>
                    <a:pt x="1648318" y="0"/>
                  </a:lnTo>
                  <a:cubicBezTo>
                    <a:pt x="1681920" y="0"/>
                    <a:pt x="1709160" y="27240"/>
                    <a:pt x="1709160" y="60843"/>
                  </a:cubicBezTo>
                  <a:lnTo>
                    <a:pt x="1709160" y="189840"/>
                  </a:lnTo>
                  <a:cubicBezTo>
                    <a:pt x="1709160" y="223443"/>
                    <a:pt x="1681920" y="250683"/>
                    <a:pt x="1648318" y="250683"/>
                  </a:cubicBezTo>
                  <a:lnTo>
                    <a:pt x="60843" y="250683"/>
                  </a:lnTo>
                  <a:cubicBezTo>
                    <a:pt x="27240" y="250683"/>
                    <a:pt x="0" y="223443"/>
                    <a:pt x="0" y="189840"/>
                  </a:cubicBezTo>
                  <a:lnTo>
                    <a:pt x="0" y="60843"/>
                  </a:lnTo>
                  <a:cubicBezTo>
                    <a:pt x="0" y="27240"/>
                    <a:pt x="27240" y="0"/>
                    <a:pt x="60843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709160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640298" y="475346"/>
            <a:ext cx="5749713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Introduction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231746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36069" y="322761"/>
            <a:ext cx="9474648" cy="951812"/>
            <a:chOff x="0" y="0"/>
            <a:chExt cx="2495380" cy="250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5380" cy="250683"/>
            </a:xfrm>
            <a:custGeom>
              <a:avLst/>
              <a:gdLst/>
              <a:ahLst/>
              <a:cxnLst/>
              <a:rect r="r" b="b" t="t" l="l"/>
              <a:pathLst>
                <a:path h="250683" w="2495380">
                  <a:moveTo>
                    <a:pt x="41673" y="0"/>
                  </a:moveTo>
                  <a:lnTo>
                    <a:pt x="2453707" y="0"/>
                  </a:lnTo>
                  <a:cubicBezTo>
                    <a:pt x="2476723" y="0"/>
                    <a:pt x="2495380" y="18658"/>
                    <a:pt x="2495380" y="41673"/>
                  </a:cubicBezTo>
                  <a:lnTo>
                    <a:pt x="2495380" y="209010"/>
                  </a:lnTo>
                  <a:cubicBezTo>
                    <a:pt x="2495380" y="232025"/>
                    <a:pt x="2476723" y="250683"/>
                    <a:pt x="2453707" y="250683"/>
                  </a:cubicBezTo>
                  <a:lnTo>
                    <a:pt x="41673" y="250683"/>
                  </a:lnTo>
                  <a:cubicBezTo>
                    <a:pt x="18658" y="250683"/>
                    <a:pt x="0" y="232025"/>
                    <a:pt x="0" y="209010"/>
                  </a:cubicBezTo>
                  <a:lnTo>
                    <a:pt x="0" y="41673"/>
                  </a:lnTo>
                  <a:cubicBezTo>
                    <a:pt x="0" y="18658"/>
                    <a:pt x="18658" y="0"/>
                    <a:pt x="41673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95380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221419">
            <a:off x="13939604" y="2925458"/>
            <a:ext cx="2736286" cy="2853949"/>
          </a:xfrm>
          <a:custGeom>
            <a:avLst/>
            <a:gdLst/>
            <a:ahLst/>
            <a:cxnLst/>
            <a:rect r="r" b="b" t="t" l="l"/>
            <a:pathLst>
              <a:path h="2853949" w="2736286">
                <a:moveTo>
                  <a:pt x="0" y="0"/>
                </a:moveTo>
                <a:lnTo>
                  <a:pt x="2736286" y="0"/>
                </a:lnTo>
                <a:lnTo>
                  <a:pt x="2736286" y="2853949"/>
                </a:lnTo>
                <a:lnTo>
                  <a:pt x="0" y="2853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845" t="-14955" r="-17709" b="-1021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398663">
            <a:off x="11830394" y="4037641"/>
            <a:ext cx="2732182" cy="3341471"/>
          </a:xfrm>
          <a:custGeom>
            <a:avLst/>
            <a:gdLst/>
            <a:ahLst/>
            <a:cxnLst/>
            <a:rect r="r" b="b" t="t" l="l"/>
            <a:pathLst>
              <a:path h="3341471" w="2732182">
                <a:moveTo>
                  <a:pt x="0" y="0"/>
                </a:moveTo>
                <a:lnTo>
                  <a:pt x="2732182" y="0"/>
                </a:lnTo>
                <a:lnTo>
                  <a:pt x="2732182" y="3341472"/>
                </a:lnTo>
                <a:lnTo>
                  <a:pt x="0" y="33414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0862" t="0" r="-83778" b="-5878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51345" y="3502777"/>
            <a:ext cx="9938387" cy="526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2783" indent="-231392" lvl="1">
              <a:lnSpc>
                <a:spcPts val="3000"/>
              </a:lnSpc>
              <a:buFont typeface="Arial"/>
              <a:buChar char="•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Conducted expert interviews with security researchers from </a:t>
            </a:r>
          </a:p>
          <a:p>
            <a:pPr algn="l" marL="1388350" indent="-347088" lvl="3">
              <a:lnSpc>
                <a:spcPts val="3000"/>
              </a:lnSpc>
              <a:buFont typeface="Arial"/>
              <a:buChar char="￭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Trillium Information Security System</a:t>
            </a:r>
          </a:p>
          <a:p>
            <a:pPr algn="l" marL="1388350" indent="-347088" lvl="3">
              <a:lnSpc>
                <a:spcPts val="3000"/>
              </a:lnSpc>
              <a:buFont typeface="Arial"/>
              <a:buChar char="￭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Askari Bank </a:t>
            </a:r>
          </a:p>
          <a:p>
            <a:pPr algn="l" marL="1388350" indent="-347088" lvl="3">
              <a:lnSpc>
                <a:spcPts val="3000"/>
              </a:lnSpc>
              <a:buFont typeface="Arial"/>
              <a:buChar char="￭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Systems Limited</a:t>
            </a:r>
          </a:p>
          <a:p>
            <a:pPr algn="l">
              <a:lnSpc>
                <a:spcPts val="3000"/>
              </a:lnSpc>
            </a:pPr>
          </a:p>
          <a:p>
            <a:pPr algn="l" marL="462783" indent="-231392" lvl="1">
              <a:lnSpc>
                <a:spcPts val="3000"/>
              </a:lnSpc>
              <a:buFont typeface="Arial"/>
              <a:buChar char="•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nsights helped validate AUTOBOTs’ features, particularly in </a:t>
            </a:r>
          </a:p>
          <a:p>
            <a:pPr algn="l" marL="1388350" indent="-347088" lvl="3">
              <a:lnSpc>
                <a:spcPts val="3000"/>
              </a:lnSpc>
              <a:buFont typeface="Arial"/>
              <a:buChar char="￭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utonomous testing, </a:t>
            </a:r>
          </a:p>
          <a:p>
            <a:pPr algn="l" marL="1388350" indent="-347088" lvl="3">
              <a:lnSpc>
                <a:spcPts val="3000"/>
              </a:lnSpc>
              <a:buFont typeface="Arial"/>
              <a:buChar char="￭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xploit verification, </a:t>
            </a:r>
          </a:p>
          <a:p>
            <a:pPr algn="l" marL="1388350" indent="-347088" lvl="3">
              <a:lnSpc>
                <a:spcPts val="3000"/>
              </a:lnSpc>
              <a:buFont typeface="Arial"/>
              <a:buChar char="￭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calable security workflows.</a:t>
            </a:r>
          </a:p>
          <a:p>
            <a:pPr algn="l">
              <a:lnSpc>
                <a:spcPts val="3000"/>
              </a:lnSpc>
            </a:pPr>
          </a:p>
          <a:p>
            <a:pPr algn="l" marL="462783" indent="-231392" lvl="1">
              <a:lnSpc>
                <a:spcPts val="3000"/>
              </a:lnSpc>
              <a:buFont typeface="Arial"/>
              <a:buChar char="•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process ensured that our system aligns with </a:t>
            </a:r>
          </a:p>
          <a:p>
            <a:pPr algn="l" marL="1388350" indent="-347088" lvl="3">
              <a:lnSpc>
                <a:spcPts val="3000"/>
              </a:lnSpc>
              <a:buFont typeface="Arial"/>
              <a:buChar char="￭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ndustry expectations, </a:t>
            </a:r>
          </a:p>
          <a:p>
            <a:pPr algn="l" marL="1388350" indent="-347088" lvl="3">
              <a:lnSpc>
                <a:spcPts val="3000"/>
              </a:lnSpc>
              <a:buFont typeface="Arial"/>
              <a:buChar char="￭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ompliance requirements, </a:t>
            </a:r>
          </a:p>
          <a:p>
            <a:pPr algn="l" marL="1388350" indent="-347088" lvl="3">
              <a:lnSpc>
                <a:spcPts val="3000"/>
              </a:lnSpc>
              <a:buFont typeface="Arial"/>
              <a:buChar char="￭"/>
            </a:pP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21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ractical cybersecurity workflows.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889732" y="7091215"/>
            <a:ext cx="5243192" cy="1349264"/>
          </a:xfrm>
          <a:custGeom>
            <a:avLst/>
            <a:gdLst/>
            <a:ahLst/>
            <a:cxnLst/>
            <a:rect r="r" b="b" t="t" l="l"/>
            <a:pathLst>
              <a:path h="1349264" w="5243192">
                <a:moveTo>
                  <a:pt x="0" y="0"/>
                </a:moveTo>
                <a:lnTo>
                  <a:pt x="5243192" y="0"/>
                </a:lnTo>
                <a:lnTo>
                  <a:pt x="5243192" y="1349263"/>
                </a:lnTo>
                <a:lnTo>
                  <a:pt x="0" y="1349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06230" y="1538165"/>
            <a:ext cx="15056540" cy="85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6"/>
              </a:lnSpc>
            </a:pPr>
            <a:r>
              <a:rPr lang="en-US" sz="4897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Requirement Elicitation &amp; Validation Approach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6069" y="475346"/>
            <a:ext cx="8603639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Requirements Gathering Methodology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9187" y="2542616"/>
            <a:ext cx="6597864" cy="7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9"/>
              </a:lnSpc>
            </a:pPr>
            <a:r>
              <a:rPr lang="en-US" sz="4356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01. Interviews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231746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36069" y="322761"/>
            <a:ext cx="9474648" cy="951812"/>
            <a:chOff x="0" y="0"/>
            <a:chExt cx="2495380" cy="250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5380" cy="250683"/>
            </a:xfrm>
            <a:custGeom>
              <a:avLst/>
              <a:gdLst/>
              <a:ahLst/>
              <a:cxnLst/>
              <a:rect r="r" b="b" t="t" l="l"/>
              <a:pathLst>
                <a:path h="250683" w="2495380">
                  <a:moveTo>
                    <a:pt x="41673" y="0"/>
                  </a:moveTo>
                  <a:lnTo>
                    <a:pt x="2453707" y="0"/>
                  </a:lnTo>
                  <a:cubicBezTo>
                    <a:pt x="2476723" y="0"/>
                    <a:pt x="2495380" y="18658"/>
                    <a:pt x="2495380" y="41673"/>
                  </a:cubicBezTo>
                  <a:lnTo>
                    <a:pt x="2495380" y="209010"/>
                  </a:lnTo>
                  <a:cubicBezTo>
                    <a:pt x="2495380" y="232025"/>
                    <a:pt x="2476723" y="250683"/>
                    <a:pt x="2453707" y="250683"/>
                  </a:cubicBezTo>
                  <a:lnTo>
                    <a:pt x="41673" y="250683"/>
                  </a:lnTo>
                  <a:cubicBezTo>
                    <a:pt x="18658" y="250683"/>
                    <a:pt x="0" y="232025"/>
                    <a:pt x="0" y="209010"/>
                  </a:cubicBezTo>
                  <a:lnTo>
                    <a:pt x="0" y="41673"/>
                  </a:lnTo>
                  <a:cubicBezTo>
                    <a:pt x="0" y="18658"/>
                    <a:pt x="18658" y="0"/>
                    <a:pt x="41673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95380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61922" y="3503724"/>
            <a:ext cx="12164156" cy="550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6427" indent="-283213" lvl="1">
              <a:lnSpc>
                <a:spcPts val="3672"/>
              </a:lnSpc>
              <a:buFont typeface="Arial"/>
              <a:buChar char="•"/>
            </a:pPr>
            <a:r>
              <a:rPr lang="en-US" sz="26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H-1B visa costs are rising to $100k+ per employee, pushing companies away from offshore cybersecurity hiring.</a:t>
            </a:r>
          </a:p>
          <a:p>
            <a:pPr algn="just">
              <a:lnSpc>
                <a:spcPts val="3672"/>
              </a:lnSpc>
            </a:pPr>
          </a:p>
          <a:p>
            <a:pPr algn="just" marL="566427" indent="-283213" lvl="1">
              <a:lnSpc>
                <a:spcPts val="3672"/>
              </a:lnSpc>
              <a:buFont typeface="Arial"/>
              <a:buChar char="•"/>
            </a:pPr>
            <a:r>
              <a:rPr lang="en-US" sz="26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</a:t>
            </a:r>
            <a:r>
              <a:rPr lang="en-US" sz="26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ighly sensitive environments require on-site security, but qualified local talent is scarce, and remote work isn't allowed.</a:t>
            </a:r>
          </a:p>
          <a:p>
            <a:pPr algn="just">
              <a:lnSpc>
                <a:spcPts val="3672"/>
              </a:lnSpc>
            </a:pPr>
          </a:p>
          <a:p>
            <a:pPr algn="just" marL="566427" indent="-283213" lvl="1">
              <a:lnSpc>
                <a:spcPts val="3672"/>
              </a:lnSpc>
              <a:buFont typeface="Arial"/>
              <a:buChar char="•"/>
            </a:pPr>
            <a:r>
              <a:rPr lang="en-US" sz="26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6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nterprises now adopt autonomous security bots to balance cost, security, and scalability.</a:t>
            </a:r>
          </a:p>
          <a:p>
            <a:pPr algn="just">
              <a:lnSpc>
                <a:spcPts val="3672"/>
              </a:lnSpc>
            </a:pPr>
          </a:p>
          <a:p>
            <a:pPr algn="just" marL="566427" indent="-283213" lvl="1">
              <a:lnSpc>
                <a:spcPts val="3672"/>
              </a:lnSpc>
              <a:buFont typeface="Arial"/>
              <a:buChar char="•"/>
            </a:pPr>
            <a:r>
              <a:rPr lang="en-US" sz="262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These bots deliver consistent, high-quality monitoring and incident response at a fraction of human-only team costs.</a:t>
            </a:r>
          </a:p>
          <a:p>
            <a:pPr algn="just">
              <a:lnSpc>
                <a:spcPts val="367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806230" y="1538165"/>
            <a:ext cx="15056540" cy="85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6"/>
              </a:lnSpc>
            </a:pPr>
            <a:r>
              <a:rPr lang="en-US" sz="4897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Requirement Elicitation &amp; Validation Approach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36069" y="475346"/>
            <a:ext cx="8603639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Requirements Gathering 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06230" y="2543089"/>
            <a:ext cx="6597864" cy="7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9"/>
              </a:lnSpc>
            </a:pPr>
            <a:r>
              <a:rPr lang="en-US" sz="4356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02. User Observations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54987" y="322761"/>
            <a:ext cx="7355730" cy="951812"/>
            <a:chOff x="0" y="0"/>
            <a:chExt cx="1937312" cy="250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7312" cy="250683"/>
            </a:xfrm>
            <a:custGeom>
              <a:avLst/>
              <a:gdLst/>
              <a:ahLst/>
              <a:cxnLst/>
              <a:rect r="r" b="b" t="t" l="l"/>
              <a:pathLst>
                <a:path h="250683" w="1937312">
                  <a:moveTo>
                    <a:pt x="53678" y="0"/>
                  </a:moveTo>
                  <a:lnTo>
                    <a:pt x="1883634" y="0"/>
                  </a:lnTo>
                  <a:cubicBezTo>
                    <a:pt x="1913279" y="0"/>
                    <a:pt x="1937312" y="24032"/>
                    <a:pt x="1937312" y="53678"/>
                  </a:cubicBezTo>
                  <a:lnTo>
                    <a:pt x="1937312" y="197005"/>
                  </a:lnTo>
                  <a:cubicBezTo>
                    <a:pt x="1937312" y="226651"/>
                    <a:pt x="1913279" y="250683"/>
                    <a:pt x="1883634" y="250683"/>
                  </a:cubicBezTo>
                  <a:lnTo>
                    <a:pt x="53678" y="250683"/>
                  </a:lnTo>
                  <a:cubicBezTo>
                    <a:pt x="24032" y="250683"/>
                    <a:pt x="0" y="226651"/>
                    <a:pt x="0" y="197005"/>
                  </a:cubicBezTo>
                  <a:lnTo>
                    <a:pt x="0" y="53678"/>
                  </a:lnTo>
                  <a:cubicBezTo>
                    <a:pt x="0" y="24032"/>
                    <a:pt x="24032" y="0"/>
                    <a:pt x="53678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731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70663" y="2213989"/>
            <a:ext cx="15946675" cy="6697603"/>
          </a:xfrm>
          <a:custGeom>
            <a:avLst/>
            <a:gdLst/>
            <a:ahLst/>
            <a:cxnLst/>
            <a:rect r="r" b="b" t="t" l="l"/>
            <a:pathLst>
              <a:path h="6697603" w="15946675">
                <a:moveTo>
                  <a:pt x="0" y="0"/>
                </a:moveTo>
                <a:lnTo>
                  <a:pt x="15946674" y="0"/>
                </a:lnTo>
                <a:lnTo>
                  <a:pt x="15946674" y="6697604"/>
                </a:lnTo>
                <a:lnTo>
                  <a:pt x="0" y="6697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57907" y="475346"/>
            <a:ext cx="6281801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Requirements Specifications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4879" y="1179323"/>
            <a:ext cx="7803287" cy="80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9"/>
              </a:lnSpc>
            </a:pPr>
            <a:r>
              <a:rPr lang="en-US" sz="4664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Context Diagram 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54987" y="322761"/>
            <a:ext cx="7355730" cy="951812"/>
            <a:chOff x="0" y="0"/>
            <a:chExt cx="1937312" cy="250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7312" cy="250683"/>
            </a:xfrm>
            <a:custGeom>
              <a:avLst/>
              <a:gdLst/>
              <a:ahLst/>
              <a:cxnLst/>
              <a:rect r="r" b="b" t="t" l="l"/>
              <a:pathLst>
                <a:path h="250683" w="1937312">
                  <a:moveTo>
                    <a:pt x="53678" y="0"/>
                  </a:moveTo>
                  <a:lnTo>
                    <a:pt x="1883634" y="0"/>
                  </a:lnTo>
                  <a:cubicBezTo>
                    <a:pt x="1913279" y="0"/>
                    <a:pt x="1937312" y="24032"/>
                    <a:pt x="1937312" y="53678"/>
                  </a:cubicBezTo>
                  <a:lnTo>
                    <a:pt x="1937312" y="197005"/>
                  </a:lnTo>
                  <a:cubicBezTo>
                    <a:pt x="1937312" y="226651"/>
                    <a:pt x="1913279" y="250683"/>
                    <a:pt x="1883634" y="250683"/>
                  </a:cubicBezTo>
                  <a:lnTo>
                    <a:pt x="53678" y="250683"/>
                  </a:lnTo>
                  <a:cubicBezTo>
                    <a:pt x="24032" y="250683"/>
                    <a:pt x="0" y="226651"/>
                    <a:pt x="0" y="197005"/>
                  </a:cubicBezTo>
                  <a:lnTo>
                    <a:pt x="0" y="53678"/>
                  </a:lnTo>
                  <a:cubicBezTo>
                    <a:pt x="0" y="24032"/>
                    <a:pt x="24032" y="0"/>
                    <a:pt x="53678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731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957225" y="2021213"/>
            <a:ext cx="12373550" cy="7099325"/>
          </a:xfrm>
          <a:custGeom>
            <a:avLst/>
            <a:gdLst/>
            <a:ahLst/>
            <a:cxnLst/>
            <a:rect r="r" b="b" t="t" l="l"/>
            <a:pathLst>
              <a:path h="7099325" w="12373550">
                <a:moveTo>
                  <a:pt x="0" y="0"/>
                </a:moveTo>
                <a:lnTo>
                  <a:pt x="12373550" y="0"/>
                </a:lnTo>
                <a:lnTo>
                  <a:pt x="12373550" y="7099325"/>
                </a:lnTo>
                <a:lnTo>
                  <a:pt x="0" y="7099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57907" y="475346"/>
            <a:ext cx="6281801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Requirements Specifications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93486" y="1179323"/>
            <a:ext cx="7803287" cy="80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9"/>
              </a:lnSpc>
            </a:pPr>
            <a:r>
              <a:rPr lang="en-US" sz="4664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Use Case View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519205" y="2097691"/>
          <a:ext cx="13249591" cy="6682094"/>
        </p:xfrm>
        <a:graphic>
          <a:graphicData uri="http://schemas.openxmlformats.org/drawingml/2006/table">
            <a:tbl>
              <a:tblPr/>
              <a:tblGrid>
                <a:gridCol w="2829046"/>
                <a:gridCol w="2829046"/>
                <a:gridCol w="7591499"/>
              </a:tblGrid>
              <a:tr h="1062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Features / Use Case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Priority of </a:t>
                      </a:r>
                      <a:endParaRPr lang="en-US" sz="1100"/>
                    </a:p>
                    <a:p>
                      <a:pPr algn="ctr">
                        <a:lnSpc>
                          <a:spcPts val="2487"/>
                        </a:lnSpc>
                      </a:pPr>
                      <a:r>
                        <a:rPr lang="en-US" sz="177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Development</a:t>
                      </a:r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Dependencies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9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 agent Connection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Essential, High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Network Infrastructure, API endpoints, authentication keys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89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Intelligent Analysis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Essential, High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LLM API, training datasets, compute resources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2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Automonous</a:t>
                      </a:r>
                      <a:endParaRPr lang="en-US" sz="1100"/>
                    </a:p>
                    <a:p>
                      <a:pPr algn="ctr">
                        <a:lnSpc>
                          <a:spcPts val="2487"/>
                        </a:lnSpc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Execution</a:t>
                      </a:r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Essential, High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 agents, integrated cybersecurity tools, permissioned targets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35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Real-Time</a:t>
                      </a:r>
                      <a:endParaRPr lang="en-US" sz="1100"/>
                    </a:p>
                    <a:p>
                      <a:pPr algn="ctr">
                        <a:lnSpc>
                          <a:spcPts val="2487"/>
                        </a:lnSpc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Adaption</a:t>
                      </a:r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Essential, Medium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AI inference engine, continuous feedback loop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38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Advanced Reporting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Essential, Medium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Reporting engine (PDF/DOCX/HTML generators)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29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Privacy &amp; Data Security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Essential, High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87"/>
                        </a:lnSpc>
                        <a:defRPr/>
                      </a:pPr>
                      <a:r>
                        <a:rPr lang="en-US" sz="1776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Encryption libraries, authentication modules, secure communication protocols</a:t>
                      </a:r>
                      <a:endParaRPr lang="en-US" sz="1100"/>
                    </a:p>
                  </a:txBody>
                  <a:tcPr marL="178124" marR="178124" marT="178124" marB="178124" anchor="ctr">
                    <a:lnL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56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11754987" y="322761"/>
            <a:ext cx="7355730" cy="951812"/>
            <a:chOff x="0" y="0"/>
            <a:chExt cx="1937312" cy="2506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37312" cy="250683"/>
            </a:xfrm>
            <a:custGeom>
              <a:avLst/>
              <a:gdLst/>
              <a:ahLst/>
              <a:cxnLst/>
              <a:rect r="r" b="b" t="t" l="l"/>
              <a:pathLst>
                <a:path h="250683" w="1937312">
                  <a:moveTo>
                    <a:pt x="53678" y="0"/>
                  </a:moveTo>
                  <a:lnTo>
                    <a:pt x="1883634" y="0"/>
                  </a:lnTo>
                  <a:cubicBezTo>
                    <a:pt x="1913279" y="0"/>
                    <a:pt x="1937312" y="24032"/>
                    <a:pt x="1937312" y="53678"/>
                  </a:cubicBezTo>
                  <a:lnTo>
                    <a:pt x="1937312" y="197005"/>
                  </a:lnTo>
                  <a:cubicBezTo>
                    <a:pt x="1937312" y="226651"/>
                    <a:pt x="1913279" y="250683"/>
                    <a:pt x="1883634" y="250683"/>
                  </a:cubicBezTo>
                  <a:lnTo>
                    <a:pt x="53678" y="250683"/>
                  </a:lnTo>
                  <a:cubicBezTo>
                    <a:pt x="24032" y="250683"/>
                    <a:pt x="0" y="226651"/>
                    <a:pt x="0" y="197005"/>
                  </a:cubicBezTo>
                  <a:lnTo>
                    <a:pt x="0" y="53678"/>
                  </a:lnTo>
                  <a:cubicBezTo>
                    <a:pt x="0" y="24032"/>
                    <a:pt x="24032" y="0"/>
                    <a:pt x="53678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3731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957907" y="475346"/>
            <a:ext cx="6281801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Requirements Specifications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239" y="1179323"/>
            <a:ext cx="7803287" cy="80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9"/>
              </a:lnSpc>
            </a:pPr>
            <a:r>
              <a:rPr lang="en-US" sz="4664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Feature Set Matrix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09673" y="2749103"/>
            <a:ext cx="5847711" cy="1088701"/>
            <a:chOff x="0" y="0"/>
            <a:chExt cx="1698048" cy="3161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8048" cy="316135"/>
            </a:xfrm>
            <a:custGeom>
              <a:avLst/>
              <a:gdLst/>
              <a:ahLst/>
              <a:cxnLst/>
              <a:rect r="r" b="b" t="t" l="l"/>
              <a:pathLst>
                <a:path h="316135" w="1698048">
                  <a:moveTo>
                    <a:pt x="67520" y="0"/>
                  </a:moveTo>
                  <a:lnTo>
                    <a:pt x="1630528" y="0"/>
                  </a:lnTo>
                  <a:cubicBezTo>
                    <a:pt x="1667819" y="0"/>
                    <a:pt x="1698048" y="30230"/>
                    <a:pt x="1698048" y="67520"/>
                  </a:cubicBezTo>
                  <a:lnTo>
                    <a:pt x="1698048" y="248615"/>
                  </a:lnTo>
                  <a:cubicBezTo>
                    <a:pt x="1698048" y="285905"/>
                    <a:pt x="1667819" y="316135"/>
                    <a:pt x="1630528" y="316135"/>
                  </a:cubicBezTo>
                  <a:lnTo>
                    <a:pt x="67520" y="316135"/>
                  </a:lnTo>
                  <a:cubicBezTo>
                    <a:pt x="30230" y="316135"/>
                    <a:pt x="0" y="285905"/>
                    <a:pt x="0" y="248615"/>
                  </a:cubicBezTo>
                  <a:lnTo>
                    <a:pt x="0" y="67520"/>
                  </a:lnTo>
                  <a:cubicBezTo>
                    <a:pt x="0" y="30230"/>
                    <a:pt x="30230" y="0"/>
                    <a:pt x="67520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98048" cy="354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172461" y="3023643"/>
            <a:ext cx="5110900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#01. </a:t>
            </a: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AI Agent Connection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809673" y="5826240"/>
            <a:ext cx="5847711" cy="1067652"/>
            <a:chOff x="0" y="0"/>
            <a:chExt cx="1698048" cy="3100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8048" cy="310023"/>
            </a:xfrm>
            <a:custGeom>
              <a:avLst/>
              <a:gdLst/>
              <a:ahLst/>
              <a:cxnLst/>
              <a:rect r="r" b="b" t="t" l="l"/>
              <a:pathLst>
                <a:path h="310023" w="1698048">
                  <a:moveTo>
                    <a:pt x="67520" y="0"/>
                  </a:moveTo>
                  <a:lnTo>
                    <a:pt x="1630528" y="0"/>
                  </a:lnTo>
                  <a:cubicBezTo>
                    <a:pt x="1667819" y="0"/>
                    <a:pt x="1698048" y="30230"/>
                    <a:pt x="1698048" y="67520"/>
                  </a:cubicBezTo>
                  <a:lnTo>
                    <a:pt x="1698048" y="242503"/>
                  </a:lnTo>
                  <a:cubicBezTo>
                    <a:pt x="1698048" y="279793"/>
                    <a:pt x="1667819" y="310023"/>
                    <a:pt x="1630528" y="310023"/>
                  </a:cubicBezTo>
                  <a:lnTo>
                    <a:pt x="67520" y="310023"/>
                  </a:lnTo>
                  <a:cubicBezTo>
                    <a:pt x="30230" y="310023"/>
                    <a:pt x="0" y="279793"/>
                    <a:pt x="0" y="242503"/>
                  </a:cubicBezTo>
                  <a:lnTo>
                    <a:pt x="0" y="67520"/>
                  </a:lnTo>
                  <a:cubicBezTo>
                    <a:pt x="0" y="30230"/>
                    <a:pt x="30230" y="0"/>
                    <a:pt x="67520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98048" cy="3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43234" y="6207287"/>
            <a:ext cx="5891013" cy="37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1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#05. </a:t>
            </a: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Privacy &amp; Data Security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641653" y="2749103"/>
            <a:ext cx="5638101" cy="1088701"/>
            <a:chOff x="0" y="0"/>
            <a:chExt cx="1637182" cy="3161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7182" cy="316135"/>
            </a:xfrm>
            <a:custGeom>
              <a:avLst/>
              <a:gdLst/>
              <a:ahLst/>
              <a:cxnLst/>
              <a:rect r="r" b="b" t="t" l="l"/>
              <a:pathLst>
                <a:path h="316135" w="1637182">
                  <a:moveTo>
                    <a:pt x="70030" y="0"/>
                  </a:moveTo>
                  <a:lnTo>
                    <a:pt x="1567152" y="0"/>
                  </a:lnTo>
                  <a:cubicBezTo>
                    <a:pt x="1585725" y="0"/>
                    <a:pt x="1603537" y="7378"/>
                    <a:pt x="1616670" y="20511"/>
                  </a:cubicBezTo>
                  <a:cubicBezTo>
                    <a:pt x="1629804" y="33645"/>
                    <a:pt x="1637182" y="51457"/>
                    <a:pt x="1637182" y="70030"/>
                  </a:cubicBezTo>
                  <a:lnTo>
                    <a:pt x="1637182" y="246105"/>
                  </a:lnTo>
                  <a:cubicBezTo>
                    <a:pt x="1637182" y="264678"/>
                    <a:pt x="1629804" y="282490"/>
                    <a:pt x="1616670" y="295624"/>
                  </a:cubicBezTo>
                  <a:cubicBezTo>
                    <a:pt x="1603537" y="308757"/>
                    <a:pt x="1585725" y="316135"/>
                    <a:pt x="1567152" y="316135"/>
                  </a:cubicBezTo>
                  <a:lnTo>
                    <a:pt x="70030" y="316135"/>
                  </a:lnTo>
                  <a:cubicBezTo>
                    <a:pt x="51457" y="316135"/>
                    <a:pt x="33645" y="308757"/>
                    <a:pt x="20511" y="295624"/>
                  </a:cubicBezTo>
                  <a:cubicBezTo>
                    <a:pt x="7378" y="282490"/>
                    <a:pt x="0" y="264678"/>
                    <a:pt x="0" y="246105"/>
                  </a:cubicBezTo>
                  <a:lnTo>
                    <a:pt x="0" y="70030"/>
                  </a:lnTo>
                  <a:cubicBezTo>
                    <a:pt x="0" y="51457"/>
                    <a:pt x="7378" y="33645"/>
                    <a:pt x="20511" y="20511"/>
                  </a:cubicBezTo>
                  <a:cubicBezTo>
                    <a:pt x="33645" y="7378"/>
                    <a:pt x="51457" y="0"/>
                    <a:pt x="70030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37182" cy="354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794596" y="3013118"/>
            <a:ext cx="5184671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</a:t>
            </a: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2. Intelligent Analysis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41653" y="4262226"/>
            <a:ext cx="5638101" cy="1088701"/>
            <a:chOff x="0" y="0"/>
            <a:chExt cx="1637182" cy="3161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37182" cy="316135"/>
            </a:xfrm>
            <a:custGeom>
              <a:avLst/>
              <a:gdLst/>
              <a:ahLst/>
              <a:cxnLst/>
              <a:rect r="r" b="b" t="t" l="l"/>
              <a:pathLst>
                <a:path h="316135" w="1637182">
                  <a:moveTo>
                    <a:pt x="70030" y="0"/>
                  </a:moveTo>
                  <a:lnTo>
                    <a:pt x="1567152" y="0"/>
                  </a:lnTo>
                  <a:cubicBezTo>
                    <a:pt x="1585725" y="0"/>
                    <a:pt x="1603537" y="7378"/>
                    <a:pt x="1616670" y="20511"/>
                  </a:cubicBezTo>
                  <a:cubicBezTo>
                    <a:pt x="1629804" y="33645"/>
                    <a:pt x="1637182" y="51457"/>
                    <a:pt x="1637182" y="70030"/>
                  </a:cubicBezTo>
                  <a:lnTo>
                    <a:pt x="1637182" y="246105"/>
                  </a:lnTo>
                  <a:cubicBezTo>
                    <a:pt x="1637182" y="264678"/>
                    <a:pt x="1629804" y="282490"/>
                    <a:pt x="1616670" y="295624"/>
                  </a:cubicBezTo>
                  <a:cubicBezTo>
                    <a:pt x="1603537" y="308757"/>
                    <a:pt x="1585725" y="316135"/>
                    <a:pt x="1567152" y="316135"/>
                  </a:cubicBezTo>
                  <a:lnTo>
                    <a:pt x="70030" y="316135"/>
                  </a:lnTo>
                  <a:cubicBezTo>
                    <a:pt x="51457" y="316135"/>
                    <a:pt x="33645" y="308757"/>
                    <a:pt x="20511" y="295624"/>
                  </a:cubicBezTo>
                  <a:cubicBezTo>
                    <a:pt x="7378" y="282490"/>
                    <a:pt x="0" y="264678"/>
                    <a:pt x="0" y="246105"/>
                  </a:cubicBezTo>
                  <a:lnTo>
                    <a:pt x="0" y="70030"/>
                  </a:lnTo>
                  <a:cubicBezTo>
                    <a:pt x="0" y="51457"/>
                    <a:pt x="7378" y="33645"/>
                    <a:pt x="20511" y="20511"/>
                  </a:cubicBezTo>
                  <a:cubicBezTo>
                    <a:pt x="33645" y="7378"/>
                    <a:pt x="51457" y="0"/>
                    <a:pt x="70030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37182" cy="354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41653" y="5826240"/>
            <a:ext cx="5638101" cy="1067652"/>
            <a:chOff x="0" y="0"/>
            <a:chExt cx="1637182" cy="3100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37182" cy="310023"/>
            </a:xfrm>
            <a:custGeom>
              <a:avLst/>
              <a:gdLst/>
              <a:ahLst/>
              <a:cxnLst/>
              <a:rect r="r" b="b" t="t" l="l"/>
              <a:pathLst>
                <a:path h="310023" w="1637182">
                  <a:moveTo>
                    <a:pt x="70030" y="0"/>
                  </a:moveTo>
                  <a:lnTo>
                    <a:pt x="1567152" y="0"/>
                  </a:lnTo>
                  <a:cubicBezTo>
                    <a:pt x="1585725" y="0"/>
                    <a:pt x="1603537" y="7378"/>
                    <a:pt x="1616670" y="20511"/>
                  </a:cubicBezTo>
                  <a:cubicBezTo>
                    <a:pt x="1629804" y="33645"/>
                    <a:pt x="1637182" y="51457"/>
                    <a:pt x="1637182" y="70030"/>
                  </a:cubicBezTo>
                  <a:lnTo>
                    <a:pt x="1637182" y="239993"/>
                  </a:lnTo>
                  <a:cubicBezTo>
                    <a:pt x="1637182" y="258566"/>
                    <a:pt x="1629804" y="276378"/>
                    <a:pt x="1616670" y="289511"/>
                  </a:cubicBezTo>
                  <a:cubicBezTo>
                    <a:pt x="1603537" y="302645"/>
                    <a:pt x="1585725" y="310023"/>
                    <a:pt x="1567152" y="310023"/>
                  </a:cubicBezTo>
                  <a:lnTo>
                    <a:pt x="70030" y="310023"/>
                  </a:lnTo>
                  <a:cubicBezTo>
                    <a:pt x="51457" y="310023"/>
                    <a:pt x="33645" y="302645"/>
                    <a:pt x="20511" y="289511"/>
                  </a:cubicBezTo>
                  <a:cubicBezTo>
                    <a:pt x="7378" y="276378"/>
                    <a:pt x="0" y="258566"/>
                    <a:pt x="0" y="239993"/>
                  </a:cubicBezTo>
                  <a:lnTo>
                    <a:pt x="0" y="70030"/>
                  </a:lnTo>
                  <a:cubicBezTo>
                    <a:pt x="0" y="51457"/>
                    <a:pt x="7378" y="33645"/>
                    <a:pt x="20511" y="20511"/>
                  </a:cubicBezTo>
                  <a:cubicBezTo>
                    <a:pt x="33645" y="7378"/>
                    <a:pt x="51457" y="0"/>
                    <a:pt x="70030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37182" cy="3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0" y="322761"/>
            <a:ext cx="9966717" cy="951812"/>
            <a:chOff x="0" y="0"/>
            <a:chExt cx="2624979" cy="2506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24979" cy="250683"/>
            </a:xfrm>
            <a:custGeom>
              <a:avLst/>
              <a:gdLst/>
              <a:ahLst/>
              <a:cxnLst/>
              <a:rect r="r" b="b" t="t" l="l"/>
              <a:pathLst>
                <a:path h="250683" w="2624979">
                  <a:moveTo>
                    <a:pt x="39616" y="0"/>
                  </a:moveTo>
                  <a:lnTo>
                    <a:pt x="2585363" y="0"/>
                  </a:lnTo>
                  <a:cubicBezTo>
                    <a:pt x="2595870" y="0"/>
                    <a:pt x="2605946" y="4174"/>
                    <a:pt x="2613376" y="11603"/>
                  </a:cubicBezTo>
                  <a:cubicBezTo>
                    <a:pt x="2620805" y="19033"/>
                    <a:pt x="2624979" y="29109"/>
                    <a:pt x="2624979" y="39616"/>
                  </a:cubicBezTo>
                  <a:lnTo>
                    <a:pt x="2624979" y="211067"/>
                  </a:lnTo>
                  <a:cubicBezTo>
                    <a:pt x="2624979" y="221574"/>
                    <a:pt x="2620805" y="231650"/>
                    <a:pt x="2613376" y="239080"/>
                  </a:cubicBezTo>
                  <a:cubicBezTo>
                    <a:pt x="2605946" y="246509"/>
                    <a:pt x="2595870" y="250683"/>
                    <a:pt x="2585363" y="250683"/>
                  </a:cubicBezTo>
                  <a:lnTo>
                    <a:pt x="39616" y="250683"/>
                  </a:lnTo>
                  <a:cubicBezTo>
                    <a:pt x="29109" y="250683"/>
                    <a:pt x="19033" y="246509"/>
                    <a:pt x="11603" y="239080"/>
                  </a:cubicBezTo>
                  <a:cubicBezTo>
                    <a:pt x="4174" y="231650"/>
                    <a:pt x="0" y="221574"/>
                    <a:pt x="0" y="211067"/>
                  </a:cubicBezTo>
                  <a:lnTo>
                    <a:pt x="0" y="39616"/>
                  </a:lnTo>
                  <a:cubicBezTo>
                    <a:pt x="0" y="29109"/>
                    <a:pt x="4174" y="19033"/>
                    <a:pt x="11603" y="11603"/>
                  </a:cubicBezTo>
                  <a:cubicBezTo>
                    <a:pt x="19033" y="4174"/>
                    <a:pt x="29109" y="0"/>
                    <a:pt x="39616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624979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926619" y="475346"/>
            <a:ext cx="9313090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Distinguishing Functional Requirements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809673" y="4262226"/>
            <a:ext cx="5847711" cy="1088701"/>
            <a:chOff x="0" y="0"/>
            <a:chExt cx="1698048" cy="31613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98048" cy="316135"/>
            </a:xfrm>
            <a:custGeom>
              <a:avLst/>
              <a:gdLst/>
              <a:ahLst/>
              <a:cxnLst/>
              <a:rect r="r" b="b" t="t" l="l"/>
              <a:pathLst>
                <a:path h="316135" w="1698048">
                  <a:moveTo>
                    <a:pt x="67520" y="0"/>
                  </a:moveTo>
                  <a:lnTo>
                    <a:pt x="1630528" y="0"/>
                  </a:lnTo>
                  <a:cubicBezTo>
                    <a:pt x="1667819" y="0"/>
                    <a:pt x="1698048" y="30230"/>
                    <a:pt x="1698048" y="67520"/>
                  </a:cubicBezTo>
                  <a:lnTo>
                    <a:pt x="1698048" y="248615"/>
                  </a:lnTo>
                  <a:cubicBezTo>
                    <a:pt x="1698048" y="285905"/>
                    <a:pt x="1667819" y="316135"/>
                    <a:pt x="1630528" y="316135"/>
                  </a:cubicBezTo>
                  <a:lnTo>
                    <a:pt x="67520" y="316135"/>
                  </a:lnTo>
                  <a:cubicBezTo>
                    <a:pt x="30230" y="316135"/>
                    <a:pt x="0" y="285905"/>
                    <a:pt x="0" y="248615"/>
                  </a:cubicBezTo>
                  <a:lnTo>
                    <a:pt x="0" y="67520"/>
                  </a:lnTo>
                  <a:cubicBezTo>
                    <a:pt x="0" y="30230"/>
                    <a:pt x="30230" y="0"/>
                    <a:pt x="67520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698048" cy="354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920097" y="4526241"/>
            <a:ext cx="5814150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#03. Autonomous Execution</a:t>
            </a: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18124" y="4526241"/>
            <a:ext cx="5485158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#04</a:t>
            </a: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. Real-time Adaptation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18124" y="6079731"/>
            <a:ext cx="5485158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#06</a:t>
            </a: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. Advanced Reporting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92807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890634" y="4362072"/>
            <a:ext cx="5847711" cy="1067652"/>
            <a:chOff x="0" y="0"/>
            <a:chExt cx="1698048" cy="3100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8048" cy="310023"/>
            </a:xfrm>
            <a:custGeom>
              <a:avLst/>
              <a:gdLst/>
              <a:ahLst/>
              <a:cxnLst/>
              <a:rect r="r" b="b" t="t" l="l"/>
              <a:pathLst>
                <a:path h="310023" w="1698048">
                  <a:moveTo>
                    <a:pt x="67520" y="0"/>
                  </a:moveTo>
                  <a:lnTo>
                    <a:pt x="1630528" y="0"/>
                  </a:lnTo>
                  <a:cubicBezTo>
                    <a:pt x="1667819" y="0"/>
                    <a:pt x="1698048" y="30230"/>
                    <a:pt x="1698048" y="67520"/>
                  </a:cubicBezTo>
                  <a:lnTo>
                    <a:pt x="1698048" y="242503"/>
                  </a:lnTo>
                  <a:cubicBezTo>
                    <a:pt x="1698048" y="279793"/>
                    <a:pt x="1667819" y="310023"/>
                    <a:pt x="1630528" y="310023"/>
                  </a:cubicBezTo>
                  <a:lnTo>
                    <a:pt x="67520" y="310023"/>
                  </a:lnTo>
                  <a:cubicBezTo>
                    <a:pt x="30230" y="310023"/>
                    <a:pt x="0" y="279793"/>
                    <a:pt x="0" y="242503"/>
                  </a:cubicBezTo>
                  <a:lnTo>
                    <a:pt x="0" y="67520"/>
                  </a:lnTo>
                  <a:cubicBezTo>
                    <a:pt x="0" y="30230"/>
                    <a:pt x="30230" y="0"/>
                    <a:pt x="67520" y="0"/>
                  </a:cubicBezTo>
                  <a:close/>
                </a:path>
              </a:pathLst>
            </a:custGeom>
            <a:solidFill>
              <a:srgbClr val="D1EC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98048" cy="3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375097" y="4646007"/>
            <a:ext cx="4731242" cy="505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8"/>
              </a:lnSpc>
            </a:pPr>
            <a:r>
              <a:rPr lang="en-US" b="true" sz="2956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#03. Scalability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220144" y="5886924"/>
            <a:ext cx="5847711" cy="1067652"/>
            <a:chOff x="0" y="0"/>
            <a:chExt cx="1698048" cy="3100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8048" cy="310023"/>
            </a:xfrm>
            <a:custGeom>
              <a:avLst/>
              <a:gdLst/>
              <a:ahLst/>
              <a:cxnLst/>
              <a:rect r="r" b="b" t="t" l="l"/>
              <a:pathLst>
                <a:path h="310023" w="1698048">
                  <a:moveTo>
                    <a:pt x="67520" y="0"/>
                  </a:moveTo>
                  <a:lnTo>
                    <a:pt x="1630528" y="0"/>
                  </a:lnTo>
                  <a:cubicBezTo>
                    <a:pt x="1667819" y="0"/>
                    <a:pt x="1698048" y="30230"/>
                    <a:pt x="1698048" y="67520"/>
                  </a:cubicBezTo>
                  <a:lnTo>
                    <a:pt x="1698048" y="242503"/>
                  </a:lnTo>
                  <a:cubicBezTo>
                    <a:pt x="1698048" y="279793"/>
                    <a:pt x="1667819" y="310023"/>
                    <a:pt x="1630528" y="310023"/>
                  </a:cubicBezTo>
                  <a:lnTo>
                    <a:pt x="67520" y="310023"/>
                  </a:lnTo>
                  <a:cubicBezTo>
                    <a:pt x="30230" y="310023"/>
                    <a:pt x="0" y="279793"/>
                    <a:pt x="0" y="242503"/>
                  </a:cubicBezTo>
                  <a:lnTo>
                    <a:pt x="0" y="67520"/>
                  </a:lnTo>
                  <a:cubicBezTo>
                    <a:pt x="0" y="30230"/>
                    <a:pt x="30230" y="0"/>
                    <a:pt x="67520" y="0"/>
                  </a:cubicBezTo>
                  <a:close/>
                </a:path>
              </a:pathLst>
            </a:custGeom>
            <a:solidFill>
              <a:srgbClr val="D1EC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98048" cy="3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852151" y="6140415"/>
            <a:ext cx="4583699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#05. Testability 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034118" y="4362072"/>
            <a:ext cx="5847711" cy="1067652"/>
            <a:chOff x="0" y="0"/>
            <a:chExt cx="1698048" cy="3100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98048" cy="310023"/>
            </a:xfrm>
            <a:custGeom>
              <a:avLst/>
              <a:gdLst/>
              <a:ahLst/>
              <a:cxnLst/>
              <a:rect r="r" b="b" t="t" l="l"/>
              <a:pathLst>
                <a:path h="310023" w="1698048">
                  <a:moveTo>
                    <a:pt x="67520" y="0"/>
                  </a:moveTo>
                  <a:lnTo>
                    <a:pt x="1630528" y="0"/>
                  </a:lnTo>
                  <a:cubicBezTo>
                    <a:pt x="1667819" y="0"/>
                    <a:pt x="1698048" y="30230"/>
                    <a:pt x="1698048" y="67520"/>
                  </a:cubicBezTo>
                  <a:lnTo>
                    <a:pt x="1698048" y="242503"/>
                  </a:lnTo>
                  <a:cubicBezTo>
                    <a:pt x="1698048" y="279793"/>
                    <a:pt x="1667819" y="310023"/>
                    <a:pt x="1630528" y="310023"/>
                  </a:cubicBezTo>
                  <a:lnTo>
                    <a:pt x="67520" y="310023"/>
                  </a:lnTo>
                  <a:cubicBezTo>
                    <a:pt x="30230" y="310023"/>
                    <a:pt x="0" y="279793"/>
                    <a:pt x="0" y="242503"/>
                  </a:cubicBezTo>
                  <a:lnTo>
                    <a:pt x="0" y="67520"/>
                  </a:lnTo>
                  <a:cubicBezTo>
                    <a:pt x="0" y="30230"/>
                    <a:pt x="30230" y="0"/>
                    <a:pt x="67520" y="0"/>
                  </a:cubicBezTo>
                  <a:close/>
                </a:path>
              </a:pathLst>
            </a:custGeom>
            <a:solidFill>
              <a:srgbClr val="D1EC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98048" cy="34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776563" y="4615563"/>
            <a:ext cx="4731242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#04. Robustness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53882" y="322761"/>
            <a:ext cx="10856835" cy="951812"/>
            <a:chOff x="0" y="0"/>
            <a:chExt cx="2859413" cy="2506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59413" cy="250683"/>
            </a:xfrm>
            <a:custGeom>
              <a:avLst/>
              <a:gdLst/>
              <a:ahLst/>
              <a:cxnLst/>
              <a:rect r="r" b="b" t="t" l="l"/>
              <a:pathLst>
                <a:path h="250683" w="2859413">
                  <a:moveTo>
                    <a:pt x="36368" y="0"/>
                  </a:moveTo>
                  <a:lnTo>
                    <a:pt x="2823046" y="0"/>
                  </a:lnTo>
                  <a:cubicBezTo>
                    <a:pt x="2843131" y="0"/>
                    <a:pt x="2859413" y="16282"/>
                    <a:pt x="2859413" y="36368"/>
                  </a:cubicBezTo>
                  <a:lnTo>
                    <a:pt x="2859413" y="214315"/>
                  </a:lnTo>
                  <a:cubicBezTo>
                    <a:pt x="2859413" y="234400"/>
                    <a:pt x="2843131" y="250683"/>
                    <a:pt x="2823046" y="250683"/>
                  </a:cubicBezTo>
                  <a:lnTo>
                    <a:pt x="36368" y="250683"/>
                  </a:lnTo>
                  <a:cubicBezTo>
                    <a:pt x="16282" y="250683"/>
                    <a:pt x="0" y="234400"/>
                    <a:pt x="0" y="214315"/>
                  </a:cubicBezTo>
                  <a:lnTo>
                    <a:pt x="0" y="36368"/>
                  </a:lnTo>
                  <a:cubicBezTo>
                    <a:pt x="0" y="16282"/>
                    <a:pt x="16282" y="0"/>
                    <a:pt x="36368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59413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253882" y="475346"/>
            <a:ext cx="9985826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Distinguishing Non-Functional Requirements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890634" y="2834029"/>
            <a:ext cx="5847711" cy="1088701"/>
            <a:chOff x="0" y="0"/>
            <a:chExt cx="1698048" cy="3161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98048" cy="316135"/>
            </a:xfrm>
            <a:custGeom>
              <a:avLst/>
              <a:gdLst/>
              <a:ahLst/>
              <a:cxnLst/>
              <a:rect r="r" b="b" t="t" l="l"/>
              <a:pathLst>
                <a:path h="316135" w="1698048">
                  <a:moveTo>
                    <a:pt x="67520" y="0"/>
                  </a:moveTo>
                  <a:lnTo>
                    <a:pt x="1630528" y="0"/>
                  </a:lnTo>
                  <a:cubicBezTo>
                    <a:pt x="1667819" y="0"/>
                    <a:pt x="1698048" y="30230"/>
                    <a:pt x="1698048" y="67520"/>
                  </a:cubicBezTo>
                  <a:lnTo>
                    <a:pt x="1698048" y="248615"/>
                  </a:lnTo>
                  <a:cubicBezTo>
                    <a:pt x="1698048" y="285905"/>
                    <a:pt x="1667819" y="316135"/>
                    <a:pt x="1630528" y="316135"/>
                  </a:cubicBezTo>
                  <a:lnTo>
                    <a:pt x="67520" y="316135"/>
                  </a:lnTo>
                  <a:cubicBezTo>
                    <a:pt x="30230" y="316135"/>
                    <a:pt x="0" y="285905"/>
                    <a:pt x="0" y="248615"/>
                  </a:cubicBezTo>
                  <a:lnTo>
                    <a:pt x="0" y="67520"/>
                  </a:lnTo>
                  <a:cubicBezTo>
                    <a:pt x="0" y="30230"/>
                    <a:pt x="30230" y="0"/>
                    <a:pt x="67520" y="0"/>
                  </a:cubicBezTo>
                  <a:close/>
                </a:path>
              </a:pathLst>
            </a:custGeom>
            <a:solidFill>
              <a:srgbClr val="D1EC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98048" cy="354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253421" y="3108569"/>
            <a:ext cx="5110900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#01. R</a:t>
            </a: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eliability &amp; Usability 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34118" y="2816171"/>
            <a:ext cx="5847711" cy="1088701"/>
            <a:chOff x="0" y="0"/>
            <a:chExt cx="1698048" cy="3161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98048" cy="316135"/>
            </a:xfrm>
            <a:custGeom>
              <a:avLst/>
              <a:gdLst/>
              <a:ahLst/>
              <a:cxnLst/>
              <a:rect r="r" b="b" t="t" l="l"/>
              <a:pathLst>
                <a:path h="316135" w="1698048">
                  <a:moveTo>
                    <a:pt x="67520" y="0"/>
                  </a:moveTo>
                  <a:lnTo>
                    <a:pt x="1630528" y="0"/>
                  </a:lnTo>
                  <a:cubicBezTo>
                    <a:pt x="1667819" y="0"/>
                    <a:pt x="1698048" y="30230"/>
                    <a:pt x="1698048" y="67520"/>
                  </a:cubicBezTo>
                  <a:lnTo>
                    <a:pt x="1698048" y="248615"/>
                  </a:lnTo>
                  <a:cubicBezTo>
                    <a:pt x="1698048" y="285905"/>
                    <a:pt x="1667819" y="316135"/>
                    <a:pt x="1630528" y="316135"/>
                  </a:cubicBezTo>
                  <a:lnTo>
                    <a:pt x="67520" y="316135"/>
                  </a:lnTo>
                  <a:cubicBezTo>
                    <a:pt x="30230" y="316135"/>
                    <a:pt x="0" y="285905"/>
                    <a:pt x="0" y="248615"/>
                  </a:cubicBezTo>
                  <a:lnTo>
                    <a:pt x="0" y="67520"/>
                  </a:lnTo>
                  <a:cubicBezTo>
                    <a:pt x="0" y="30230"/>
                    <a:pt x="30230" y="0"/>
                    <a:pt x="67520" y="0"/>
                  </a:cubicBezTo>
                  <a:close/>
                </a:path>
              </a:pathLst>
            </a:custGeom>
            <a:solidFill>
              <a:srgbClr val="D1EC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98048" cy="3542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396905" y="3090711"/>
            <a:ext cx="5110900" cy="50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#02. M</a:t>
            </a:r>
            <a:r>
              <a:rPr lang="en-US" b="true" sz="2959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aintainability 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82697" y="3193457"/>
            <a:ext cx="15941827" cy="3954647"/>
          </a:xfrm>
          <a:custGeom>
            <a:avLst/>
            <a:gdLst/>
            <a:ahLst/>
            <a:cxnLst/>
            <a:rect r="r" b="b" t="t" l="l"/>
            <a:pathLst>
              <a:path h="3954647" w="15941827">
                <a:moveTo>
                  <a:pt x="0" y="0"/>
                </a:moveTo>
                <a:lnTo>
                  <a:pt x="15941827" y="0"/>
                </a:lnTo>
                <a:lnTo>
                  <a:pt x="15941827" y="3954648"/>
                </a:lnTo>
                <a:lnTo>
                  <a:pt x="0" y="3954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397" r="-4999" b="-9069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9469" y="2463647"/>
            <a:ext cx="8806823" cy="93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2"/>
              </a:lnSpc>
            </a:pPr>
            <a:r>
              <a:rPr lang="en-US" sz="26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Local Application User Interface of AUTOBOTs </a:t>
            </a:r>
          </a:p>
          <a:p>
            <a:pPr algn="l">
              <a:lnSpc>
                <a:spcPts val="3752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1754987" y="322761"/>
            <a:ext cx="7355730" cy="951812"/>
            <a:chOff x="0" y="0"/>
            <a:chExt cx="1937312" cy="250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7312" cy="250683"/>
            </a:xfrm>
            <a:custGeom>
              <a:avLst/>
              <a:gdLst/>
              <a:ahLst/>
              <a:cxnLst/>
              <a:rect r="r" b="b" t="t" l="l"/>
              <a:pathLst>
                <a:path h="250683" w="1937312">
                  <a:moveTo>
                    <a:pt x="53678" y="0"/>
                  </a:moveTo>
                  <a:lnTo>
                    <a:pt x="1883634" y="0"/>
                  </a:lnTo>
                  <a:cubicBezTo>
                    <a:pt x="1913279" y="0"/>
                    <a:pt x="1937312" y="24032"/>
                    <a:pt x="1937312" y="53678"/>
                  </a:cubicBezTo>
                  <a:lnTo>
                    <a:pt x="1937312" y="197005"/>
                  </a:lnTo>
                  <a:cubicBezTo>
                    <a:pt x="1937312" y="226651"/>
                    <a:pt x="1913279" y="250683"/>
                    <a:pt x="1883634" y="250683"/>
                  </a:cubicBezTo>
                  <a:lnTo>
                    <a:pt x="53678" y="250683"/>
                  </a:lnTo>
                  <a:cubicBezTo>
                    <a:pt x="24032" y="250683"/>
                    <a:pt x="0" y="226651"/>
                    <a:pt x="0" y="197005"/>
                  </a:cubicBezTo>
                  <a:lnTo>
                    <a:pt x="0" y="53678"/>
                  </a:lnTo>
                  <a:cubicBezTo>
                    <a:pt x="0" y="24032"/>
                    <a:pt x="24032" y="0"/>
                    <a:pt x="53678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3731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957907" y="475346"/>
            <a:ext cx="6281801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User Interface Requirements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251789" y="1377678"/>
            <a:ext cx="10577683" cy="7531644"/>
          </a:xfrm>
          <a:custGeom>
            <a:avLst/>
            <a:gdLst/>
            <a:ahLst/>
            <a:cxnLst/>
            <a:rect r="r" b="b" t="t" l="l"/>
            <a:pathLst>
              <a:path h="7531644" w="10577683">
                <a:moveTo>
                  <a:pt x="0" y="0"/>
                </a:moveTo>
                <a:lnTo>
                  <a:pt x="10577684" y="0"/>
                </a:lnTo>
                <a:lnTo>
                  <a:pt x="10577684" y="7531644"/>
                </a:lnTo>
                <a:lnTo>
                  <a:pt x="0" y="7531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4537" y="3760760"/>
            <a:ext cx="5102503" cy="272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20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Along with our Own Design, with AUTOBOTs, we aim to introduce seamless integration in security researcher’s day-to-day solutions </a:t>
            </a:r>
          </a:p>
          <a:p>
            <a:pPr algn="l">
              <a:lnSpc>
                <a:spcPts val="3088"/>
              </a:lnSpc>
            </a:pPr>
            <a:r>
              <a:rPr lang="en-US" sz="220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e.g. C</a:t>
            </a:r>
            <a:r>
              <a:rPr lang="en-US" sz="220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ross-platform desktop AI assistants like 5IRE</a:t>
            </a:r>
          </a:p>
          <a:p>
            <a:pPr algn="l">
              <a:lnSpc>
                <a:spcPts val="3088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1754987" y="322761"/>
            <a:ext cx="7355730" cy="951812"/>
            <a:chOff x="0" y="0"/>
            <a:chExt cx="1937312" cy="250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37312" cy="250683"/>
            </a:xfrm>
            <a:custGeom>
              <a:avLst/>
              <a:gdLst/>
              <a:ahLst/>
              <a:cxnLst/>
              <a:rect r="r" b="b" t="t" l="l"/>
              <a:pathLst>
                <a:path h="250683" w="1937312">
                  <a:moveTo>
                    <a:pt x="53678" y="0"/>
                  </a:moveTo>
                  <a:lnTo>
                    <a:pt x="1883634" y="0"/>
                  </a:lnTo>
                  <a:cubicBezTo>
                    <a:pt x="1913279" y="0"/>
                    <a:pt x="1937312" y="24032"/>
                    <a:pt x="1937312" y="53678"/>
                  </a:cubicBezTo>
                  <a:lnTo>
                    <a:pt x="1937312" y="197005"/>
                  </a:lnTo>
                  <a:cubicBezTo>
                    <a:pt x="1937312" y="226651"/>
                    <a:pt x="1913279" y="250683"/>
                    <a:pt x="1883634" y="250683"/>
                  </a:cubicBezTo>
                  <a:lnTo>
                    <a:pt x="53678" y="250683"/>
                  </a:lnTo>
                  <a:cubicBezTo>
                    <a:pt x="24032" y="250683"/>
                    <a:pt x="0" y="226651"/>
                    <a:pt x="0" y="197005"/>
                  </a:cubicBezTo>
                  <a:lnTo>
                    <a:pt x="0" y="53678"/>
                  </a:lnTo>
                  <a:cubicBezTo>
                    <a:pt x="0" y="24032"/>
                    <a:pt x="24032" y="0"/>
                    <a:pt x="53678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3731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957907" y="475346"/>
            <a:ext cx="6281801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User Interface Requirements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601155" y="1446136"/>
            <a:ext cx="11561402" cy="7394728"/>
          </a:xfrm>
          <a:custGeom>
            <a:avLst/>
            <a:gdLst/>
            <a:ahLst/>
            <a:cxnLst/>
            <a:rect r="r" b="b" t="t" l="l"/>
            <a:pathLst>
              <a:path h="7394728" w="11561402">
                <a:moveTo>
                  <a:pt x="0" y="0"/>
                </a:moveTo>
                <a:lnTo>
                  <a:pt x="11561402" y="0"/>
                </a:lnTo>
                <a:lnTo>
                  <a:pt x="11561402" y="7394728"/>
                </a:lnTo>
                <a:lnTo>
                  <a:pt x="0" y="7394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075" t="0" r="0" b="-1057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754987" y="322761"/>
            <a:ext cx="7355730" cy="951812"/>
            <a:chOff x="0" y="0"/>
            <a:chExt cx="1937312" cy="2506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37312" cy="250683"/>
            </a:xfrm>
            <a:custGeom>
              <a:avLst/>
              <a:gdLst/>
              <a:ahLst/>
              <a:cxnLst/>
              <a:rect r="r" b="b" t="t" l="l"/>
              <a:pathLst>
                <a:path h="250683" w="1937312">
                  <a:moveTo>
                    <a:pt x="53678" y="0"/>
                  </a:moveTo>
                  <a:lnTo>
                    <a:pt x="1883634" y="0"/>
                  </a:lnTo>
                  <a:cubicBezTo>
                    <a:pt x="1913279" y="0"/>
                    <a:pt x="1937312" y="24032"/>
                    <a:pt x="1937312" y="53678"/>
                  </a:cubicBezTo>
                  <a:lnTo>
                    <a:pt x="1937312" y="197005"/>
                  </a:lnTo>
                  <a:cubicBezTo>
                    <a:pt x="1937312" y="226651"/>
                    <a:pt x="1913279" y="250683"/>
                    <a:pt x="1883634" y="250683"/>
                  </a:cubicBezTo>
                  <a:lnTo>
                    <a:pt x="53678" y="250683"/>
                  </a:lnTo>
                  <a:cubicBezTo>
                    <a:pt x="24032" y="250683"/>
                    <a:pt x="0" y="226651"/>
                    <a:pt x="0" y="197005"/>
                  </a:cubicBezTo>
                  <a:lnTo>
                    <a:pt x="0" y="53678"/>
                  </a:lnTo>
                  <a:cubicBezTo>
                    <a:pt x="0" y="24032"/>
                    <a:pt x="24032" y="0"/>
                    <a:pt x="53678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3731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957907" y="475346"/>
            <a:ext cx="6281801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User Interface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3163" y="4455477"/>
            <a:ext cx="5102503" cy="76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220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Seamless integration with</a:t>
            </a:r>
          </a:p>
          <a:p>
            <a:pPr algn="l">
              <a:lnSpc>
                <a:spcPts val="3088"/>
              </a:lnSpc>
            </a:pPr>
            <a:r>
              <a:rPr lang="en-US" sz="220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solutions like IDE’s e.g. Cursor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755171" y="1045788"/>
            <a:ext cx="5513832" cy="8229600"/>
          </a:xfrm>
          <a:custGeom>
            <a:avLst/>
            <a:gdLst/>
            <a:ahLst/>
            <a:cxnLst/>
            <a:rect r="r" b="b" t="t" l="l"/>
            <a:pathLst>
              <a:path h="8229600" w="5513832">
                <a:moveTo>
                  <a:pt x="0" y="0"/>
                </a:moveTo>
                <a:lnTo>
                  <a:pt x="5513832" y="0"/>
                </a:lnTo>
                <a:lnTo>
                  <a:pt x="55138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520116" y="322761"/>
            <a:ext cx="5590601" cy="951812"/>
            <a:chOff x="0" y="0"/>
            <a:chExt cx="1472422" cy="25068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2422" cy="250683"/>
            </a:xfrm>
            <a:custGeom>
              <a:avLst/>
              <a:gdLst/>
              <a:ahLst/>
              <a:cxnLst/>
              <a:rect r="r" b="b" t="t" l="l"/>
              <a:pathLst>
                <a:path h="250683" w="1472422">
                  <a:moveTo>
                    <a:pt x="70625" y="0"/>
                  </a:moveTo>
                  <a:lnTo>
                    <a:pt x="1401796" y="0"/>
                  </a:lnTo>
                  <a:cubicBezTo>
                    <a:pt x="1440802" y="0"/>
                    <a:pt x="1472422" y="31620"/>
                    <a:pt x="1472422" y="70625"/>
                  </a:cubicBezTo>
                  <a:lnTo>
                    <a:pt x="1472422" y="180058"/>
                  </a:lnTo>
                  <a:cubicBezTo>
                    <a:pt x="1472422" y="198789"/>
                    <a:pt x="1464981" y="216752"/>
                    <a:pt x="1451736" y="229997"/>
                  </a:cubicBezTo>
                  <a:cubicBezTo>
                    <a:pt x="1438491" y="243242"/>
                    <a:pt x="1420527" y="250683"/>
                    <a:pt x="1401796" y="250683"/>
                  </a:cubicBezTo>
                  <a:lnTo>
                    <a:pt x="70625" y="250683"/>
                  </a:lnTo>
                  <a:cubicBezTo>
                    <a:pt x="31620" y="250683"/>
                    <a:pt x="0" y="219063"/>
                    <a:pt x="0" y="180058"/>
                  </a:cubicBezTo>
                  <a:lnTo>
                    <a:pt x="0" y="70625"/>
                  </a:lnTo>
                  <a:cubicBezTo>
                    <a:pt x="0" y="51894"/>
                    <a:pt x="7441" y="33930"/>
                    <a:pt x="20686" y="20686"/>
                  </a:cubicBezTo>
                  <a:cubicBezTo>
                    <a:pt x="33930" y="7441"/>
                    <a:pt x="51894" y="0"/>
                    <a:pt x="70625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7242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520116" y="475346"/>
            <a:ext cx="4719593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System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0416" y="2327496"/>
            <a:ext cx="568111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 blueprint that shows components structure &amp; realtionship within the system.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1590" y="1404300"/>
            <a:ext cx="8682314" cy="77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</a:pPr>
            <a:r>
              <a:rPr lang="en-US" sz="4474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System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74286" y="2818712"/>
            <a:ext cx="15939428" cy="6076907"/>
          </a:xfrm>
          <a:custGeom>
            <a:avLst/>
            <a:gdLst/>
            <a:ahLst/>
            <a:cxnLst/>
            <a:rect r="r" b="b" t="t" l="l"/>
            <a:pathLst>
              <a:path h="6076907" w="15939428">
                <a:moveTo>
                  <a:pt x="0" y="0"/>
                </a:moveTo>
                <a:lnTo>
                  <a:pt x="15939428" y="0"/>
                </a:lnTo>
                <a:lnTo>
                  <a:pt x="15939428" y="6076906"/>
                </a:lnTo>
                <a:lnTo>
                  <a:pt x="0" y="60769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79513" y="1141223"/>
            <a:ext cx="732897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Sequence Diagram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520116" y="322761"/>
            <a:ext cx="5590601" cy="951812"/>
            <a:chOff x="0" y="0"/>
            <a:chExt cx="1472422" cy="250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422" cy="250683"/>
            </a:xfrm>
            <a:custGeom>
              <a:avLst/>
              <a:gdLst/>
              <a:ahLst/>
              <a:cxnLst/>
              <a:rect r="r" b="b" t="t" l="l"/>
              <a:pathLst>
                <a:path h="250683" w="1472422">
                  <a:moveTo>
                    <a:pt x="70625" y="0"/>
                  </a:moveTo>
                  <a:lnTo>
                    <a:pt x="1401796" y="0"/>
                  </a:lnTo>
                  <a:cubicBezTo>
                    <a:pt x="1440802" y="0"/>
                    <a:pt x="1472422" y="31620"/>
                    <a:pt x="1472422" y="70625"/>
                  </a:cubicBezTo>
                  <a:lnTo>
                    <a:pt x="1472422" y="180058"/>
                  </a:lnTo>
                  <a:cubicBezTo>
                    <a:pt x="1472422" y="198789"/>
                    <a:pt x="1464981" y="216752"/>
                    <a:pt x="1451736" y="229997"/>
                  </a:cubicBezTo>
                  <a:cubicBezTo>
                    <a:pt x="1438491" y="243242"/>
                    <a:pt x="1420527" y="250683"/>
                    <a:pt x="1401796" y="250683"/>
                  </a:cubicBezTo>
                  <a:lnTo>
                    <a:pt x="70625" y="250683"/>
                  </a:lnTo>
                  <a:cubicBezTo>
                    <a:pt x="31620" y="250683"/>
                    <a:pt x="0" y="219063"/>
                    <a:pt x="0" y="180058"/>
                  </a:cubicBezTo>
                  <a:lnTo>
                    <a:pt x="0" y="70625"/>
                  </a:lnTo>
                  <a:cubicBezTo>
                    <a:pt x="0" y="51894"/>
                    <a:pt x="7441" y="33930"/>
                    <a:pt x="20686" y="20686"/>
                  </a:cubicBezTo>
                  <a:cubicBezTo>
                    <a:pt x="33930" y="7441"/>
                    <a:pt x="51894" y="0"/>
                    <a:pt x="70625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7242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20116" y="475346"/>
            <a:ext cx="4719593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UML Diagrams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65941" y="2200248"/>
            <a:ext cx="1235611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Sequence of Messages exchanged between objects in a system to complete a specific task or use case.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26115" y="902034"/>
            <a:ext cx="3847274" cy="8229600"/>
          </a:xfrm>
          <a:custGeom>
            <a:avLst/>
            <a:gdLst/>
            <a:ahLst/>
            <a:cxnLst/>
            <a:rect r="r" b="b" t="t" l="l"/>
            <a:pathLst>
              <a:path h="8229600" w="3847274">
                <a:moveTo>
                  <a:pt x="0" y="0"/>
                </a:moveTo>
                <a:lnTo>
                  <a:pt x="3847275" y="0"/>
                </a:lnTo>
                <a:lnTo>
                  <a:pt x="384727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88551" y="1726194"/>
            <a:ext cx="9232551" cy="1481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1"/>
              </a:lnSpc>
            </a:pPr>
            <a:r>
              <a:rPr lang="en-US" sz="5384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Activity Diagram</a:t>
            </a:r>
          </a:p>
          <a:p>
            <a:pPr algn="ctr">
              <a:lnSpc>
                <a:spcPts val="576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520116" y="322761"/>
            <a:ext cx="5590601" cy="951812"/>
            <a:chOff x="0" y="0"/>
            <a:chExt cx="1472422" cy="250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422" cy="250683"/>
            </a:xfrm>
            <a:custGeom>
              <a:avLst/>
              <a:gdLst/>
              <a:ahLst/>
              <a:cxnLst/>
              <a:rect r="r" b="b" t="t" l="l"/>
              <a:pathLst>
                <a:path h="250683" w="1472422">
                  <a:moveTo>
                    <a:pt x="70625" y="0"/>
                  </a:moveTo>
                  <a:lnTo>
                    <a:pt x="1401796" y="0"/>
                  </a:lnTo>
                  <a:cubicBezTo>
                    <a:pt x="1440802" y="0"/>
                    <a:pt x="1472422" y="31620"/>
                    <a:pt x="1472422" y="70625"/>
                  </a:cubicBezTo>
                  <a:lnTo>
                    <a:pt x="1472422" y="180058"/>
                  </a:lnTo>
                  <a:cubicBezTo>
                    <a:pt x="1472422" y="198789"/>
                    <a:pt x="1464981" y="216752"/>
                    <a:pt x="1451736" y="229997"/>
                  </a:cubicBezTo>
                  <a:cubicBezTo>
                    <a:pt x="1438491" y="243242"/>
                    <a:pt x="1420527" y="250683"/>
                    <a:pt x="1401796" y="250683"/>
                  </a:cubicBezTo>
                  <a:lnTo>
                    <a:pt x="70625" y="250683"/>
                  </a:lnTo>
                  <a:cubicBezTo>
                    <a:pt x="31620" y="250683"/>
                    <a:pt x="0" y="219063"/>
                    <a:pt x="0" y="180058"/>
                  </a:cubicBezTo>
                  <a:lnTo>
                    <a:pt x="0" y="70625"/>
                  </a:lnTo>
                  <a:cubicBezTo>
                    <a:pt x="0" y="51894"/>
                    <a:pt x="7441" y="33930"/>
                    <a:pt x="20686" y="20686"/>
                  </a:cubicBezTo>
                  <a:cubicBezTo>
                    <a:pt x="33930" y="7441"/>
                    <a:pt x="51894" y="0"/>
                    <a:pt x="70625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7242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20116" y="475346"/>
            <a:ext cx="4719593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UML Diagrams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0918" y="2550880"/>
            <a:ext cx="5793613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Models the flow of control &amp; data between 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different activities in the system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562448" y="2366157"/>
            <a:ext cx="11163104" cy="6791155"/>
          </a:xfrm>
          <a:custGeom>
            <a:avLst/>
            <a:gdLst/>
            <a:ahLst/>
            <a:cxnLst/>
            <a:rect r="r" b="b" t="t" l="l"/>
            <a:pathLst>
              <a:path h="6791155" w="11163104">
                <a:moveTo>
                  <a:pt x="0" y="0"/>
                </a:moveTo>
                <a:lnTo>
                  <a:pt x="11163104" y="0"/>
                </a:lnTo>
                <a:lnTo>
                  <a:pt x="11163104" y="6791155"/>
                </a:lnTo>
                <a:lnTo>
                  <a:pt x="0" y="6791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62" r="0" b="-66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11247" y="912438"/>
            <a:ext cx="1046550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State Transition Diagram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8301" y="1922088"/>
            <a:ext cx="1481139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 representation that shows a systems possible states &amp; events or inputs that caused it to transition between those states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520116" y="322761"/>
            <a:ext cx="5590601" cy="951812"/>
            <a:chOff x="0" y="0"/>
            <a:chExt cx="1472422" cy="2506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72422" cy="250683"/>
            </a:xfrm>
            <a:custGeom>
              <a:avLst/>
              <a:gdLst/>
              <a:ahLst/>
              <a:cxnLst/>
              <a:rect r="r" b="b" t="t" l="l"/>
              <a:pathLst>
                <a:path h="250683" w="1472422">
                  <a:moveTo>
                    <a:pt x="70625" y="0"/>
                  </a:moveTo>
                  <a:lnTo>
                    <a:pt x="1401796" y="0"/>
                  </a:lnTo>
                  <a:cubicBezTo>
                    <a:pt x="1440802" y="0"/>
                    <a:pt x="1472422" y="31620"/>
                    <a:pt x="1472422" y="70625"/>
                  </a:cubicBezTo>
                  <a:lnTo>
                    <a:pt x="1472422" y="180058"/>
                  </a:lnTo>
                  <a:cubicBezTo>
                    <a:pt x="1472422" y="198789"/>
                    <a:pt x="1464981" y="216752"/>
                    <a:pt x="1451736" y="229997"/>
                  </a:cubicBezTo>
                  <a:cubicBezTo>
                    <a:pt x="1438491" y="243242"/>
                    <a:pt x="1420527" y="250683"/>
                    <a:pt x="1401796" y="250683"/>
                  </a:cubicBezTo>
                  <a:lnTo>
                    <a:pt x="70625" y="250683"/>
                  </a:lnTo>
                  <a:cubicBezTo>
                    <a:pt x="31620" y="250683"/>
                    <a:pt x="0" y="219063"/>
                    <a:pt x="0" y="180058"/>
                  </a:cubicBezTo>
                  <a:lnTo>
                    <a:pt x="0" y="70625"/>
                  </a:lnTo>
                  <a:cubicBezTo>
                    <a:pt x="0" y="51894"/>
                    <a:pt x="7441" y="33930"/>
                    <a:pt x="20686" y="20686"/>
                  </a:cubicBezTo>
                  <a:cubicBezTo>
                    <a:pt x="33930" y="7441"/>
                    <a:pt x="51894" y="0"/>
                    <a:pt x="70625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7242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520116" y="475346"/>
            <a:ext cx="4719593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UML Diagrams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139180" y="2285365"/>
            <a:ext cx="12009640" cy="6830483"/>
          </a:xfrm>
          <a:custGeom>
            <a:avLst/>
            <a:gdLst/>
            <a:ahLst/>
            <a:cxnLst/>
            <a:rect r="r" b="b" t="t" l="l"/>
            <a:pathLst>
              <a:path h="6830483" w="12009640">
                <a:moveTo>
                  <a:pt x="0" y="0"/>
                </a:moveTo>
                <a:lnTo>
                  <a:pt x="12009640" y="0"/>
                </a:lnTo>
                <a:lnTo>
                  <a:pt x="12009640" y="6830483"/>
                </a:lnTo>
                <a:lnTo>
                  <a:pt x="0" y="6830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85126" y="914400"/>
            <a:ext cx="8117747" cy="96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5"/>
              </a:lnSpc>
            </a:pPr>
            <a:r>
              <a:rPr lang="en-US" sz="5575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Component </a:t>
            </a:r>
            <a:r>
              <a:rPr lang="en-US" sz="5575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Diagram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520116" y="322761"/>
            <a:ext cx="5590601" cy="951812"/>
            <a:chOff x="0" y="0"/>
            <a:chExt cx="1472422" cy="250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422" cy="250683"/>
            </a:xfrm>
            <a:custGeom>
              <a:avLst/>
              <a:gdLst/>
              <a:ahLst/>
              <a:cxnLst/>
              <a:rect r="r" b="b" t="t" l="l"/>
              <a:pathLst>
                <a:path h="250683" w="1472422">
                  <a:moveTo>
                    <a:pt x="70625" y="0"/>
                  </a:moveTo>
                  <a:lnTo>
                    <a:pt x="1401796" y="0"/>
                  </a:lnTo>
                  <a:cubicBezTo>
                    <a:pt x="1440802" y="0"/>
                    <a:pt x="1472422" y="31620"/>
                    <a:pt x="1472422" y="70625"/>
                  </a:cubicBezTo>
                  <a:lnTo>
                    <a:pt x="1472422" y="180058"/>
                  </a:lnTo>
                  <a:cubicBezTo>
                    <a:pt x="1472422" y="198789"/>
                    <a:pt x="1464981" y="216752"/>
                    <a:pt x="1451736" y="229997"/>
                  </a:cubicBezTo>
                  <a:cubicBezTo>
                    <a:pt x="1438491" y="243242"/>
                    <a:pt x="1420527" y="250683"/>
                    <a:pt x="1401796" y="250683"/>
                  </a:cubicBezTo>
                  <a:lnTo>
                    <a:pt x="70625" y="250683"/>
                  </a:lnTo>
                  <a:cubicBezTo>
                    <a:pt x="31620" y="250683"/>
                    <a:pt x="0" y="219063"/>
                    <a:pt x="0" y="180058"/>
                  </a:cubicBezTo>
                  <a:lnTo>
                    <a:pt x="0" y="70625"/>
                  </a:lnTo>
                  <a:cubicBezTo>
                    <a:pt x="0" y="51894"/>
                    <a:pt x="7441" y="33930"/>
                    <a:pt x="20686" y="20686"/>
                  </a:cubicBezTo>
                  <a:cubicBezTo>
                    <a:pt x="33930" y="7441"/>
                    <a:pt x="51894" y="0"/>
                    <a:pt x="70625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7242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20116" y="475346"/>
            <a:ext cx="4719593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UML Diagrams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22380" y="1840287"/>
            <a:ext cx="54432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Visualizes the internal structure of the system. 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11247" y="1504262"/>
            <a:ext cx="1046550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ER 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85296" y="3221623"/>
            <a:ext cx="12917407" cy="438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2406" indent="-301203" lvl="1">
              <a:lnSpc>
                <a:spcPts val="3906"/>
              </a:lnSpc>
              <a:buFont typeface="Arial"/>
              <a:buChar char="•"/>
            </a:pPr>
            <a:r>
              <a:rPr lang="en-US" sz="279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do not use any traditional database for AUTOBOTs.</a:t>
            </a:r>
          </a:p>
          <a:p>
            <a:pPr algn="l" marL="602406" indent="-301203" lvl="1">
              <a:lnSpc>
                <a:spcPts val="3906"/>
              </a:lnSpc>
              <a:buFont typeface="Arial"/>
              <a:buChar char="•"/>
            </a:pPr>
            <a:r>
              <a:rPr lang="en-US" sz="279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All data is stored in a file system storage temporarily in an in-memory cache for a single session only.</a:t>
            </a:r>
          </a:p>
          <a:p>
            <a:pPr algn="l" marL="602406" indent="-301203" lvl="1">
              <a:lnSpc>
                <a:spcPts val="3906"/>
              </a:lnSpc>
              <a:buFont typeface="Arial"/>
              <a:buChar char="•"/>
            </a:pPr>
            <a:r>
              <a:rPr lang="en-US" sz="279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This approach helps us maintain a strong security posture by ensuring no long-term data persistence.</a:t>
            </a:r>
          </a:p>
          <a:p>
            <a:pPr algn="l" marL="602406" indent="-301203" lvl="1">
              <a:lnSpc>
                <a:spcPts val="3906"/>
              </a:lnSpc>
              <a:buFont typeface="Arial"/>
              <a:buChar char="•"/>
            </a:pPr>
            <a:r>
              <a:rPr lang="en-US" sz="279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Once the session ends, all cached data is automatically cleared, minimizing the attack surface and eliminating risks associated with data leakage or unauthorized access.</a:t>
            </a:r>
          </a:p>
          <a:p>
            <a:pPr algn="l">
              <a:lnSpc>
                <a:spcPts val="3906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3520116" y="322761"/>
            <a:ext cx="5590601" cy="951812"/>
            <a:chOff x="0" y="0"/>
            <a:chExt cx="1472422" cy="250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72422" cy="250683"/>
            </a:xfrm>
            <a:custGeom>
              <a:avLst/>
              <a:gdLst/>
              <a:ahLst/>
              <a:cxnLst/>
              <a:rect r="r" b="b" t="t" l="l"/>
              <a:pathLst>
                <a:path h="250683" w="1472422">
                  <a:moveTo>
                    <a:pt x="70625" y="0"/>
                  </a:moveTo>
                  <a:lnTo>
                    <a:pt x="1401796" y="0"/>
                  </a:lnTo>
                  <a:cubicBezTo>
                    <a:pt x="1440802" y="0"/>
                    <a:pt x="1472422" y="31620"/>
                    <a:pt x="1472422" y="70625"/>
                  </a:cubicBezTo>
                  <a:lnTo>
                    <a:pt x="1472422" y="180058"/>
                  </a:lnTo>
                  <a:cubicBezTo>
                    <a:pt x="1472422" y="198789"/>
                    <a:pt x="1464981" y="216752"/>
                    <a:pt x="1451736" y="229997"/>
                  </a:cubicBezTo>
                  <a:cubicBezTo>
                    <a:pt x="1438491" y="243242"/>
                    <a:pt x="1420527" y="250683"/>
                    <a:pt x="1401796" y="250683"/>
                  </a:cubicBezTo>
                  <a:lnTo>
                    <a:pt x="70625" y="250683"/>
                  </a:lnTo>
                  <a:cubicBezTo>
                    <a:pt x="31620" y="250683"/>
                    <a:pt x="0" y="219063"/>
                    <a:pt x="0" y="180058"/>
                  </a:cubicBezTo>
                  <a:lnTo>
                    <a:pt x="0" y="70625"/>
                  </a:lnTo>
                  <a:cubicBezTo>
                    <a:pt x="0" y="51894"/>
                    <a:pt x="7441" y="33930"/>
                    <a:pt x="20686" y="20686"/>
                  </a:cubicBezTo>
                  <a:cubicBezTo>
                    <a:pt x="33930" y="7441"/>
                    <a:pt x="51894" y="0"/>
                    <a:pt x="70625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7242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20116" y="475346"/>
            <a:ext cx="4719593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UML Diagrams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54987" y="322761"/>
            <a:ext cx="7355730" cy="951812"/>
            <a:chOff x="0" y="0"/>
            <a:chExt cx="1937312" cy="250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7312" cy="250683"/>
            </a:xfrm>
            <a:custGeom>
              <a:avLst/>
              <a:gdLst/>
              <a:ahLst/>
              <a:cxnLst/>
              <a:rect r="r" b="b" t="t" l="l"/>
              <a:pathLst>
                <a:path h="250683" w="1937312">
                  <a:moveTo>
                    <a:pt x="53678" y="0"/>
                  </a:moveTo>
                  <a:lnTo>
                    <a:pt x="1883634" y="0"/>
                  </a:lnTo>
                  <a:cubicBezTo>
                    <a:pt x="1913279" y="0"/>
                    <a:pt x="1937312" y="24032"/>
                    <a:pt x="1937312" y="53678"/>
                  </a:cubicBezTo>
                  <a:lnTo>
                    <a:pt x="1937312" y="197005"/>
                  </a:lnTo>
                  <a:cubicBezTo>
                    <a:pt x="1937312" y="226651"/>
                    <a:pt x="1913279" y="250683"/>
                    <a:pt x="1883634" y="250683"/>
                  </a:cubicBezTo>
                  <a:lnTo>
                    <a:pt x="53678" y="250683"/>
                  </a:lnTo>
                  <a:cubicBezTo>
                    <a:pt x="24032" y="250683"/>
                    <a:pt x="0" y="226651"/>
                    <a:pt x="0" y="197005"/>
                  </a:cubicBezTo>
                  <a:lnTo>
                    <a:pt x="0" y="53678"/>
                  </a:lnTo>
                  <a:cubicBezTo>
                    <a:pt x="0" y="24032"/>
                    <a:pt x="24032" y="0"/>
                    <a:pt x="53678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731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932912" y="2429212"/>
            <a:ext cx="10593932" cy="6449056"/>
          </a:xfrm>
          <a:custGeom>
            <a:avLst/>
            <a:gdLst/>
            <a:ahLst/>
            <a:cxnLst/>
            <a:rect r="r" b="b" t="t" l="l"/>
            <a:pathLst>
              <a:path h="6449056" w="10593932">
                <a:moveTo>
                  <a:pt x="0" y="0"/>
                </a:moveTo>
                <a:lnTo>
                  <a:pt x="10593933" y="0"/>
                </a:lnTo>
                <a:lnTo>
                  <a:pt x="10593933" y="6449056"/>
                </a:lnTo>
                <a:lnTo>
                  <a:pt x="0" y="64490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737403" y="4795185"/>
            <a:ext cx="4399657" cy="85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sz="245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Used Jira &amp; Clickup for Project Management.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6147" y="1284550"/>
            <a:ext cx="1046550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Project Management Tool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57907" y="475346"/>
            <a:ext cx="6281801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Project Management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54987" y="322761"/>
            <a:ext cx="7355730" cy="951812"/>
            <a:chOff x="0" y="0"/>
            <a:chExt cx="1937312" cy="250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7312" cy="250683"/>
            </a:xfrm>
            <a:custGeom>
              <a:avLst/>
              <a:gdLst/>
              <a:ahLst/>
              <a:cxnLst/>
              <a:rect r="r" b="b" t="t" l="l"/>
              <a:pathLst>
                <a:path h="250683" w="1937312">
                  <a:moveTo>
                    <a:pt x="53678" y="0"/>
                  </a:moveTo>
                  <a:lnTo>
                    <a:pt x="1883634" y="0"/>
                  </a:lnTo>
                  <a:cubicBezTo>
                    <a:pt x="1913279" y="0"/>
                    <a:pt x="1937312" y="24032"/>
                    <a:pt x="1937312" y="53678"/>
                  </a:cubicBezTo>
                  <a:lnTo>
                    <a:pt x="1937312" y="197005"/>
                  </a:lnTo>
                  <a:cubicBezTo>
                    <a:pt x="1937312" y="226651"/>
                    <a:pt x="1913279" y="250683"/>
                    <a:pt x="1883634" y="250683"/>
                  </a:cubicBezTo>
                  <a:lnTo>
                    <a:pt x="53678" y="250683"/>
                  </a:lnTo>
                  <a:cubicBezTo>
                    <a:pt x="24032" y="250683"/>
                    <a:pt x="0" y="226651"/>
                    <a:pt x="0" y="197005"/>
                  </a:cubicBezTo>
                  <a:lnTo>
                    <a:pt x="0" y="53678"/>
                  </a:lnTo>
                  <a:cubicBezTo>
                    <a:pt x="0" y="24032"/>
                    <a:pt x="24032" y="0"/>
                    <a:pt x="53678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7312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03657" y="2884554"/>
            <a:ext cx="15697329" cy="5435200"/>
          </a:xfrm>
          <a:custGeom>
            <a:avLst/>
            <a:gdLst/>
            <a:ahLst/>
            <a:cxnLst/>
            <a:rect r="r" b="b" t="t" l="l"/>
            <a:pathLst>
              <a:path h="5435200" w="15697329">
                <a:moveTo>
                  <a:pt x="0" y="0"/>
                </a:moveTo>
                <a:lnTo>
                  <a:pt x="15697329" y="0"/>
                </a:lnTo>
                <a:lnTo>
                  <a:pt x="15697329" y="5435201"/>
                </a:lnTo>
                <a:lnTo>
                  <a:pt x="0" y="5435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63647" y="1656662"/>
            <a:ext cx="1046550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GitHub Repository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57907" y="475346"/>
            <a:ext cx="6281801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Project Repository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BFBFB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86487" y="1903518"/>
            <a:ext cx="4878785" cy="2625154"/>
            <a:chOff x="0" y="0"/>
            <a:chExt cx="1416693" cy="762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6693" cy="762288"/>
            </a:xfrm>
            <a:custGeom>
              <a:avLst/>
              <a:gdLst/>
              <a:ahLst/>
              <a:cxnLst/>
              <a:rect r="r" b="b" t="t" l="l"/>
              <a:pathLst>
                <a:path h="762288" w="1416693">
                  <a:moveTo>
                    <a:pt x="80930" y="0"/>
                  </a:moveTo>
                  <a:lnTo>
                    <a:pt x="1335764" y="0"/>
                  </a:lnTo>
                  <a:cubicBezTo>
                    <a:pt x="1380460" y="0"/>
                    <a:pt x="1416693" y="36233"/>
                    <a:pt x="1416693" y="80930"/>
                  </a:cubicBezTo>
                  <a:lnTo>
                    <a:pt x="1416693" y="681358"/>
                  </a:lnTo>
                  <a:cubicBezTo>
                    <a:pt x="1416693" y="726054"/>
                    <a:pt x="1380460" y="762288"/>
                    <a:pt x="1335764" y="762288"/>
                  </a:cubicBezTo>
                  <a:lnTo>
                    <a:pt x="80930" y="762288"/>
                  </a:lnTo>
                  <a:cubicBezTo>
                    <a:pt x="36233" y="762288"/>
                    <a:pt x="0" y="726054"/>
                    <a:pt x="0" y="681358"/>
                  </a:cubicBezTo>
                  <a:lnTo>
                    <a:pt x="0" y="80930"/>
                  </a:lnTo>
                  <a:cubicBezTo>
                    <a:pt x="0" y="36233"/>
                    <a:pt x="36233" y="0"/>
                    <a:pt x="80930" y="0"/>
                  </a:cubicBezTo>
                  <a:close/>
                </a:path>
              </a:pathLst>
            </a:custGeom>
            <a:solidFill>
              <a:srgbClr val="C7DE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16693" cy="800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86487" y="5071598"/>
            <a:ext cx="4878785" cy="2686260"/>
            <a:chOff x="0" y="0"/>
            <a:chExt cx="1416693" cy="7800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6693" cy="780032"/>
            </a:xfrm>
            <a:custGeom>
              <a:avLst/>
              <a:gdLst/>
              <a:ahLst/>
              <a:cxnLst/>
              <a:rect r="r" b="b" t="t" l="l"/>
              <a:pathLst>
                <a:path h="780032" w="1416693">
                  <a:moveTo>
                    <a:pt x="80930" y="0"/>
                  </a:moveTo>
                  <a:lnTo>
                    <a:pt x="1335764" y="0"/>
                  </a:lnTo>
                  <a:cubicBezTo>
                    <a:pt x="1380460" y="0"/>
                    <a:pt x="1416693" y="36233"/>
                    <a:pt x="1416693" y="80930"/>
                  </a:cubicBezTo>
                  <a:lnTo>
                    <a:pt x="1416693" y="699102"/>
                  </a:lnTo>
                  <a:cubicBezTo>
                    <a:pt x="1416693" y="743798"/>
                    <a:pt x="1380460" y="780032"/>
                    <a:pt x="1335764" y="780032"/>
                  </a:cubicBezTo>
                  <a:lnTo>
                    <a:pt x="80930" y="780032"/>
                  </a:lnTo>
                  <a:cubicBezTo>
                    <a:pt x="36233" y="780032"/>
                    <a:pt x="0" y="743798"/>
                    <a:pt x="0" y="699102"/>
                  </a:cubicBezTo>
                  <a:lnTo>
                    <a:pt x="0" y="80930"/>
                  </a:lnTo>
                  <a:cubicBezTo>
                    <a:pt x="0" y="36233"/>
                    <a:pt x="36233" y="0"/>
                    <a:pt x="80930" y="0"/>
                  </a:cubicBezTo>
                  <a:close/>
                </a:path>
              </a:pathLst>
            </a:custGeom>
            <a:solidFill>
              <a:srgbClr val="C7DE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16693" cy="818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52256" y="2786371"/>
            <a:ext cx="4169084" cy="694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7388" indent="-248694" lvl="1">
              <a:lnSpc>
                <a:spcPts val="2718"/>
              </a:lnSpc>
              <a:buFont typeface="Arial"/>
              <a:buChar char="•"/>
            </a:pP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User Interface Design</a:t>
            </a:r>
          </a:p>
          <a:p>
            <a:pPr algn="l" marL="497388" indent="-248694" lvl="1">
              <a:lnSpc>
                <a:spcPts val="2718"/>
              </a:lnSpc>
              <a:buFont typeface="Arial"/>
              <a:buChar char="•"/>
            </a:pP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Context Diagram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74782" y="2641512"/>
            <a:ext cx="3508256" cy="983816"/>
            <a:chOff x="0" y="0"/>
            <a:chExt cx="1018721" cy="2856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8721" cy="285679"/>
            </a:xfrm>
            <a:custGeom>
              <a:avLst/>
              <a:gdLst/>
              <a:ahLst/>
              <a:cxnLst/>
              <a:rect r="r" b="b" t="t" l="l"/>
              <a:pathLst>
                <a:path h="285679" w="1018721">
                  <a:moveTo>
                    <a:pt x="112545" y="0"/>
                  </a:moveTo>
                  <a:lnTo>
                    <a:pt x="906176" y="0"/>
                  </a:lnTo>
                  <a:cubicBezTo>
                    <a:pt x="936025" y="0"/>
                    <a:pt x="964651" y="11857"/>
                    <a:pt x="985757" y="32964"/>
                  </a:cubicBezTo>
                  <a:cubicBezTo>
                    <a:pt x="1006864" y="54070"/>
                    <a:pt x="1018721" y="82696"/>
                    <a:pt x="1018721" y="112545"/>
                  </a:cubicBezTo>
                  <a:lnTo>
                    <a:pt x="1018721" y="173134"/>
                  </a:lnTo>
                  <a:cubicBezTo>
                    <a:pt x="1018721" y="235291"/>
                    <a:pt x="968333" y="285679"/>
                    <a:pt x="906176" y="285679"/>
                  </a:cubicBezTo>
                  <a:lnTo>
                    <a:pt x="112545" y="285679"/>
                  </a:lnTo>
                  <a:cubicBezTo>
                    <a:pt x="82696" y="285679"/>
                    <a:pt x="54070" y="273821"/>
                    <a:pt x="32964" y="252715"/>
                  </a:cubicBezTo>
                  <a:cubicBezTo>
                    <a:pt x="11857" y="231609"/>
                    <a:pt x="0" y="202982"/>
                    <a:pt x="0" y="173134"/>
                  </a:cubicBezTo>
                  <a:lnTo>
                    <a:pt x="0" y="112545"/>
                  </a:lnTo>
                  <a:cubicBezTo>
                    <a:pt x="0" y="50388"/>
                    <a:pt x="50388" y="0"/>
                    <a:pt x="112545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18721" cy="32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856210" y="2235384"/>
            <a:ext cx="3827324" cy="1881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</a:p>
          <a:p>
            <a:pPr algn="l" marL="456616" indent="-228308" lvl="1">
              <a:lnSpc>
                <a:spcPts val="2495"/>
              </a:lnSpc>
              <a:buFont typeface="Arial"/>
              <a:buChar char="•"/>
            </a:pPr>
            <a:r>
              <a:rPr lang="en-US" b="true" sz="211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System Architecture</a:t>
            </a:r>
          </a:p>
          <a:p>
            <a:pPr algn="l" marL="456616" indent="-228308" lvl="1">
              <a:lnSpc>
                <a:spcPts val="2495"/>
              </a:lnSpc>
              <a:buFont typeface="Arial"/>
              <a:buChar char="•"/>
            </a:pPr>
            <a:r>
              <a:rPr lang="en-US" b="true" sz="211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Development View</a:t>
            </a:r>
          </a:p>
          <a:p>
            <a:pPr algn="l" marL="456616" indent="-228308" lvl="1">
              <a:lnSpc>
                <a:spcPts val="2495"/>
              </a:lnSpc>
              <a:buFont typeface="Arial"/>
              <a:buChar char="•"/>
            </a:pPr>
            <a:r>
              <a:rPr lang="en-US" b="true" sz="211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Activity Diagram</a:t>
            </a:r>
          </a:p>
          <a:p>
            <a:pPr algn="l" marL="456616" indent="-228308" lvl="1">
              <a:lnSpc>
                <a:spcPts val="2495"/>
              </a:lnSpc>
              <a:buFont typeface="Arial"/>
              <a:buChar char="•"/>
            </a:pPr>
            <a:r>
              <a:rPr lang="en-US" b="true" sz="211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Sequence Diagram</a:t>
            </a:r>
          </a:p>
          <a:p>
            <a:pPr algn="l">
              <a:lnSpc>
                <a:spcPts val="2495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392257" y="5897221"/>
            <a:ext cx="3508256" cy="1035013"/>
            <a:chOff x="0" y="0"/>
            <a:chExt cx="1018721" cy="3005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8721" cy="300545"/>
            </a:xfrm>
            <a:custGeom>
              <a:avLst/>
              <a:gdLst/>
              <a:ahLst/>
              <a:cxnLst/>
              <a:rect r="r" b="b" t="t" l="l"/>
              <a:pathLst>
                <a:path h="300545" w="1018721">
                  <a:moveTo>
                    <a:pt x="112545" y="0"/>
                  </a:moveTo>
                  <a:lnTo>
                    <a:pt x="906176" y="0"/>
                  </a:lnTo>
                  <a:cubicBezTo>
                    <a:pt x="936025" y="0"/>
                    <a:pt x="964651" y="11857"/>
                    <a:pt x="985757" y="32964"/>
                  </a:cubicBezTo>
                  <a:cubicBezTo>
                    <a:pt x="1006864" y="54070"/>
                    <a:pt x="1018721" y="82696"/>
                    <a:pt x="1018721" y="112545"/>
                  </a:cubicBezTo>
                  <a:lnTo>
                    <a:pt x="1018721" y="188000"/>
                  </a:lnTo>
                  <a:cubicBezTo>
                    <a:pt x="1018721" y="250157"/>
                    <a:pt x="968333" y="300545"/>
                    <a:pt x="906176" y="300545"/>
                  </a:cubicBezTo>
                  <a:lnTo>
                    <a:pt x="112545" y="300545"/>
                  </a:lnTo>
                  <a:cubicBezTo>
                    <a:pt x="50388" y="300545"/>
                    <a:pt x="0" y="250157"/>
                    <a:pt x="0" y="188000"/>
                  </a:cubicBezTo>
                  <a:lnTo>
                    <a:pt x="0" y="112545"/>
                  </a:lnTo>
                  <a:cubicBezTo>
                    <a:pt x="0" y="50388"/>
                    <a:pt x="50388" y="0"/>
                    <a:pt x="112545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18721" cy="33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755705" y="1903518"/>
            <a:ext cx="4878785" cy="2625154"/>
            <a:chOff x="0" y="0"/>
            <a:chExt cx="1416693" cy="762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6693" cy="762288"/>
            </a:xfrm>
            <a:custGeom>
              <a:avLst/>
              <a:gdLst/>
              <a:ahLst/>
              <a:cxnLst/>
              <a:rect r="r" b="b" t="t" l="l"/>
              <a:pathLst>
                <a:path h="762288" w="1416693">
                  <a:moveTo>
                    <a:pt x="80930" y="0"/>
                  </a:moveTo>
                  <a:lnTo>
                    <a:pt x="1335764" y="0"/>
                  </a:lnTo>
                  <a:cubicBezTo>
                    <a:pt x="1380460" y="0"/>
                    <a:pt x="1416693" y="36233"/>
                    <a:pt x="1416693" y="80930"/>
                  </a:cubicBezTo>
                  <a:lnTo>
                    <a:pt x="1416693" y="681358"/>
                  </a:lnTo>
                  <a:cubicBezTo>
                    <a:pt x="1416693" y="726054"/>
                    <a:pt x="1380460" y="762288"/>
                    <a:pt x="1335764" y="762288"/>
                  </a:cubicBezTo>
                  <a:lnTo>
                    <a:pt x="80930" y="762288"/>
                  </a:lnTo>
                  <a:cubicBezTo>
                    <a:pt x="36233" y="762288"/>
                    <a:pt x="0" y="726054"/>
                    <a:pt x="0" y="681358"/>
                  </a:cubicBezTo>
                  <a:lnTo>
                    <a:pt x="0" y="80930"/>
                  </a:lnTo>
                  <a:cubicBezTo>
                    <a:pt x="0" y="36233"/>
                    <a:pt x="36233" y="0"/>
                    <a:pt x="80930" y="0"/>
                  </a:cubicBezTo>
                  <a:close/>
                </a:path>
              </a:pathLst>
            </a:custGeom>
            <a:solidFill>
              <a:srgbClr val="C7DEE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16693" cy="800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55705" y="5071598"/>
            <a:ext cx="4878785" cy="2686260"/>
            <a:chOff x="0" y="0"/>
            <a:chExt cx="1416693" cy="7800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6693" cy="780032"/>
            </a:xfrm>
            <a:custGeom>
              <a:avLst/>
              <a:gdLst/>
              <a:ahLst/>
              <a:cxnLst/>
              <a:rect r="r" b="b" t="t" l="l"/>
              <a:pathLst>
                <a:path h="780032" w="1416693">
                  <a:moveTo>
                    <a:pt x="80930" y="0"/>
                  </a:moveTo>
                  <a:lnTo>
                    <a:pt x="1335764" y="0"/>
                  </a:lnTo>
                  <a:cubicBezTo>
                    <a:pt x="1380460" y="0"/>
                    <a:pt x="1416693" y="36233"/>
                    <a:pt x="1416693" y="80930"/>
                  </a:cubicBezTo>
                  <a:lnTo>
                    <a:pt x="1416693" y="699102"/>
                  </a:lnTo>
                  <a:cubicBezTo>
                    <a:pt x="1416693" y="743798"/>
                    <a:pt x="1380460" y="780032"/>
                    <a:pt x="1335764" y="780032"/>
                  </a:cubicBezTo>
                  <a:lnTo>
                    <a:pt x="80930" y="780032"/>
                  </a:lnTo>
                  <a:cubicBezTo>
                    <a:pt x="36233" y="780032"/>
                    <a:pt x="0" y="743798"/>
                    <a:pt x="0" y="699102"/>
                  </a:cubicBezTo>
                  <a:lnTo>
                    <a:pt x="0" y="80930"/>
                  </a:lnTo>
                  <a:cubicBezTo>
                    <a:pt x="0" y="36233"/>
                    <a:pt x="36233" y="0"/>
                    <a:pt x="80930" y="0"/>
                  </a:cubicBezTo>
                  <a:close/>
                </a:path>
              </a:pathLst>
            </a:custGeom>
            <a:solidFill>
              <a:srgbClr val="C7DEE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16693" cy="818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0" y="2641512"/>
            <a:ext cx="3508256" cy="983816"/>
            <a:chOff x="0" y="0"/>
            <a:chExt cx="1018721" cy="2856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8721" cy="285679"/>
            </a:xfrm>
            <a:custGeom>
              <a:avLst/>
              <a:gdLst/>
              <a:ahLst/>
              <a:cxnLst/>
              <a:rect r="r" b="b" t="t" l="l"/>
              <a:pathLst>
                <a:path h="285679" w="1018721">
                  <a:moveTo>
                    <a:pt x="112545" y="0"/>
                  </a:moveTo>
                  <a:lnTo>
                    <a:pt x="906176" y="0"/>
                  </a:lnTo>
                  <a:cubicBezTo>
                    <a:pt x="936025" y="0"/>
                    <a:pt x="964651" y="11857"/>
                    <a:pt x="985757" y="32964"/>
                  </a:cubicBezTo>
                  <a:cubicBezTo>
                    <a:pt x="1006864" y="54070"/>
                    <a:pt x="1018721" y="82696"/>
                    <a:pt x="1018721" y="112545"/>
                  </a:cubicBezTo>
                  <a:lnTo>
                    <a:pt x="1018721" y="173134"/>
                  </a:lnTo>
                  <a:cubicBezTo>
                    <a:pt x="1018721" y="235291"/>
                    <a:pt x="968333" y="285679"/>
                    <a:pt x="906176" y="285679"/>
                  </a:cubicBezTo>
                  <a:lnTo>
                    <a:pt x="112545" y="285679"/>
                  </a:lnTo>
                  <a:cubicBezTo>
                    <a:pt x="82696" y="285679"/>
                    <a:pt x="54070" y="273821"/>
                    <a:pt x="32964" y="252715"/>
                  </a:cubicBezTo>
                  <a:cubicBezTo>
                    <a:pt x="11857" y="231609"/>
                    <a:pt x="0" y="202982"/>
                    <a:pt x="0" y="173134"/>
                  </a:cubicBezTo>
                  <a:lnTo>
                    <a:pt x="0" y="112545"/>
                  </a:lnTo>
                  <a:cubicBezTo>
                    <a:pt x="0" y="50388"/>
                    <a:pt x="50388" y="0"/>
                    <a:pt x="112545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18721" cy="323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386427" y="2864454"/>
            <a:ext cx="5023402" cy="48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2"/>
              </a:lnSpc>
            </a:pPr>
            <a:r>
              <a:rPr lang="en-US" b="true" sz="2808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M.Bilal Aslam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80704" y="5859476"/>
            <a:ext cx="3508256" cy="1035013"/>
            <a:chOff x="0" y="0"/>
            <a:chExt cx="1018721" cy="30054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8721" cy="300545"/>
            </a:xfrm>
            <a:custGeom>
              <a:avLst/>
              <a:gdLst/>
              <a:ahLst/>
              <a:cxnLst/>
              <a:rect r="r" b="b" t="t" l="l"/>
              <a:pathLst>
                <a:path h="300545" w="1018721">
                  <a:moveTo>
                    <a:pt x="112545" y="0"/>
                  </a:moveTo>
                  <a:lnTo>
                    <a:pt x="906176" y="0"/>
                  </a:lnTo>
                  <a:cubicBezTo>
                    <a:pt x="936025" y="0"/>
                    <a:pt x="964651" y="11857"/>
                    <a:pt x="985757" y="32964"/>
                  </a:cubicBezTo>
                  <a:cubicBezTo>
                    <a:pt x="1006864" y="54070"/>
                    <a:pt x="1018721" y="82696"/>
                    <a:pt x="1018721" y="112545"/>
                  </a:cubicBezTo>
                  <a:lnTo>
                    <a:pt x="1018721" y="188000"/>
                  </a:lnTo>
                  <a:cubicBezTo>
                    <a:pt x="1018721" y="250157"/>
                    <a:pt x="968333" y="300545"/>
                    <a:pt x="906176" y="300545"/>
                  </a:cubicBezTo>
                  <a:lnTo>
                    <a:pt x="112545" y="300545"/>
                  </a:lnTo>
                  <a:cubicBezTo>
                    <a:pt x="50388" y="300545"/>
                    <a:pt x="0" y="250157"/>
                    <a:pt x="0" y="188000"/>
                  </a:cubicBezTo>
                  <a:lnTo>
                    <a:pt x="0" y="112545"/>
                  </a:lnTo>
                  <a:cubicBezTo>
                    <a:pt x="0" y="50388"/>
                    <a:pt x="50388" y="0"/>
                    <a:pt x="112545" y="0"/>
                  </a:cubicBezTo>
                  <a:close/>
                </a:path>
              </a:pathLst>
            </a:custGeom>
            <a:solidFill>
              <a:srgbClr val="65A4C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18721" cy="33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17209" y="2912079"/>
            <a:ext cx="5023402" cy="48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2"/>
              </a:lnSpc>
            </a:pPr>
            <a:r>
              <a:rPr lang="en-US" b="true" sz="2808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M. Bilal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63050" y="6183711"/>
            <a:ext cx="3943564" cy="41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432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Syed Ahmed Haseeb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88960" y="5487087"/>
            <a:ext cx="3606696" cy="168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102" indent="-260051" lvl="1">
              <a:lnSpc>
                <a:spcPts val="3372"/>
              </a:lnSpc>
              <a:buFont typeface="Arial"/>
              <a:buChar char="•"/>
            </a:pPr>
            <a:r>
              <a:rPr lang="en-US" b="true" sz="240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Requirement Specifications</a:t>
            </a:r>
          </a:p>
          <a:p>
            <a:pPr algn="l" marL="520102" indent="-260051" lvl="1">
              <a:lnSpc>
                <a:spcPts val="3372"/>
              </a:lnSpc>
              <a:buFont typeface="Arial"/>
              <a:buChar char="•"/>
            </a:pPr>
            <a:r>
              <a:rPr lang="en-US" b="true" sz="240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Interviews</a:t>
            </a:r>
          </a:p>
          <a:p>
            <a:pPr algn="l" marL="520102" indent="-260051" lvl="1">
              <a:lnSpc>
                <a:spcPts val="3372"/>
              </a:lnSpc>
              <a:buFont typeface="Arial"/>
              <a:buChar char="•"/>
            </a:pPr>
            <a:r>
              <a:rPr lang="en-US" b="true" sz="2408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 Case Diagram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783038" y="5182366"/>
            <a:ext cx="4113308" cy="2721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</a:p>
          <a:p>
            <a:pPr algn="l" marL="490734" indent="-245367" lvl="1">
              <a:lnSpc>
                <a:spcPts val="2682"/>
              </a:lnSpc>
              <a:buFont typeface="Arial"/>
              <a:buChar char="•"/>
            </a:pPr>
            <a:r>
              <a:rPr lang="en-US" b="true" sz="227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State-transition Diagram</a:t>
            </a:r>
          </a:p>
          <a:p>
            <a:pPr algn="l" marL="490734" indent="-245367" lvl="1">
              <a:lnSpc>
                <a:spcPts val="2682"/>
              </a:lnSpc>
              <a:buFont typeface="Arial"/>
              <a:buChar char="•"/>
            </a:pPr>
            <a:r>
              <a:rPr lang="en-US" b="true" sz="227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Components Diagram</a:t>
            </a:r>
          </a:p>
          <a:p>
            <a:pPr algn="l" marL="490734" indent="-245367" lvl="1">
              <a:lnSpc>
                <a:spcPts val="2682"/>
              </a:lnSpc>
              <a:buFont typeface="Arial"/>
              <a:buChar char="•"/>
            </a:pPr>
            <a:r>
              <a:rPr lang="en-US" b="true" sz="227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Logical view</a:t>
            </a:r>
          </a:p>
          <a:p>
            <a:pPr algn="l" marL="490734" indent="-245367" lvl="1">
              <a:lnSpc>
                <a:spcPts val="2682"/>
              </a:lnSpc>
              <a:buFont typeface="Arial"/>
              <a:buChar char="•"/>
            </a:pPr>
            <a:r>
              <a:rPr lang="en-US" b="true" sz="227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Physical View</a:t>
            </a:r>
          </a:p>
          <a:p>
            <a:pPr algn="l">
              <a:lnSpc>
                <a:spcPts val="2682"/>
              </a:lnSpc>
            </a:pPr>
          </a:p>
          <a:p>
            <a:pPr algn="l">
              <a:lnSpc>
                <a:spcPts val="2682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634684" y="6145762"/>
            <a:ext cx="5023402" cy="48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2"/>
              </a:lnSpc>
            </a:pPr>
            <a:r>
              <a:rPr lang="en-US" b="true" sz="2808">
                <a:solidFill>
                  <a:srgbClr val="0D0F68"/>
                </a:solidFill>
                <a:latin typeface="Garet Bold"/>
                <a:ea typeface="Garet Bold"/>
                <a:cs typeface="Garet Bold"/>
                <a:sym typeface="Garet Bold"/>
              </a:rPr>
              <a:t>Hassaan Shah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52256" y="2450155"/>
            <a:ext cx="3843400" cy="117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273" indent="-245136" lvl="1">
              <a:lnSpc>
                <a:spcPts val="3179"/>
              </a:lnSpc>
              <a:buFont typeface="Arial"/>
              <a:buChar char="•"/>
            </a:pPr>
            <a:r>
              <a:rPr lang="en-US" b="true" sz="227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User Observations</a:t>
            </a:r>
          </a:p>
          <a:p>
            <a:pPr algn="l" marL="490273" indent="-245136" lvl="1">
              <a:lnSpc>
                <a:spcPts val="3179"/>
              </a:lnSpc>
              <a:buFont typeface="Arial"/>
              <a:buChar char="•"/>
            </a:pPr>
            <a:r>
              <a:rPr lang="en-US" b="true" sz="227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Context Diagram</a:t>
            </a:r>
          </a:p>
          <a:p>
            <a:pPr algn="l" marL="490273" indent="-245136" lvl="1">
              <a:lnSpc>
                <a:spcPts val="3179"/>
              </a:lnSpc>
              <a:buFont typeface="Arial"/>
              <a:buChar char="•"/>
            </a:pPr>
            <a:r>
              <a:rPr lang="en-US" b="true" sz="227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User Interface Design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895724" y="322761"/>
            <a:ext cx="6214993" cy="951812"/>
            <a:chOff x="0" y="0"/>
            <a:chExt cx="1636870" cy="25068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36870" cy="250683"/>
            </a:xfrm>
            <a:custGeom>
              <a:avLst/>
              <a:gdLst/>
              <a:ahLst/>
              <a:cxnLst/>
              <a:rect r="r" b="b" t="t" l="l"/>
              <a:pathLst>
                <a:path h="250683" w="1636870">
                  <a:moveTo>
                    <a:pt x="63530" y="0"/>
                  </a:moveTo>
                  <a:lnTo>
                    <a:pt x="1573340" y="0"/>
                  </a:lnTo>
                  <a:cubicBezTo>
                    <a:pt x="1608427" y="0"/>
                    <a:pt x="1636870" y="28443"/>
                    <a:pt x="1636870" y="63530"/>
                  </a:cubicBezTo>
                  <a:lnTo>
                    <a:pt x="1636870" y="187153"/>
                  </a:lnTo>
                  <a:cubicBezTo>
                    <a:pt x="1636870" y="204002"/>
                    <a:pt x="1630177" y="220161"/>
                    <a:pt x="1618263" y="232075"/>
                  </a:cubicBezTo>
                  <a:cubicBezTo>
                    <a:pt x="1606349" y="243990"/>
                    <a:pt x="1590190" y="250683"/>
                    <a:pt x="1573340" y="250683"/>
                  </a:cubicBezTo>
                  <a:lnTo>
                    <a:pt x="63530" y="250683"/>
                  </a:lnTo>
                  <a:cubicBezTo>
                    <a:pt x="28443" y="250683"/>
                    <a:pt x="0" y="222240"/>
                    <a:pt x="0" y="187153"/>
                  </a:cubicBezTo>
                  <a:lnTo>
                    <a:pt x="0" y="63530"/>
                  </a:lnTo>
                  <a:cubicBezTo>
                    <a:pt x="0" y="28443"/>
                    <a:pt x="28443" y="0"/>
                    <a:pt x="63530" y="0"/>
                  </a:cubicBezTo>
                  <a:close/>
                </a:path>
              </a:pathLst>
            </a:custGeom>
            <a:solidFill>
              <a:srgbClr val="0D0F68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636870" cy="288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393252" y="475346"/>
            <a:ext cx="6281801" cy="57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243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Division Of Tasks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28173" y="3980898"/>
            <a:ext cx="4031654" cy="208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29"/>
              </a:lnSpc>
            </a:pPr>
            <a:r>
              <a:rPr lang="en-US" sz="12163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Q&amp;A 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57249" y="1213806"/>
            <a:ext cx="3573502" cy="3573502"/>
          </a:xfrm>
          <a:custGeom>
            <a:avLst/>
            <a:gdLst/>
            <a:ahLst/>
            <a:cxnLst/>
            <a:rect r="r" b="b" t="t" l="l"/>
            <a:pathLst>
              <a:path h="3573502" w="3573502">
                <a:moveTo>
                  <a:pt x="0" y="0"/>
                </a:moveTo>
                <a:lnTo>
                  <a:pt x="3573502" y="0"/>
                </a:lnTo>
                <a:lnTo>
                  <a:pt x="3573502" y="3573502"/>
                </a:lnTo>
                <a:lnTo>
                  <a:pt x="0" y="3573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57143" y="4558708"/>
            <a:ext cx="10373714" cy="408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50"/>
              </a:lnSpc>
            </a:pPr>
            <a:r>
              <a:rPr lang="en-US" sz="11679">
                <a:solidFill>
                  <a:srgbClr val="0D0F68"/>
                </a:solidFill>
                <a:latin typeface="Yeseva One"/>
                <a:ea typeface="Yeseva One"/>
                <a:cs typeface="Yeseva One"/>
                <a:sym typeface="Yeseva One"/>
              </a:rPr>
              <a:t>Thank You</a:t>
            </a:r>
          </a:p>
          <a:p>
            <a:pPr algn="ctr">
              <a:lnSpc>
                <a:spcPts val="163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031693" y="6509962"/>
            <a:ext cx="622461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Team Project AUTOBOTs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DAG4-nsCQD4</dc:identifier>
  <dcterms:modified xsi:type="dcterms:W3CDTF">2011-08-01T06:04:30Z</dcterms:modified>
  <cp:revision>1</cp:revision>
  <dc:title> Blue White Geometric Thesis Defense Presentation</dc:title>
</cp:coreProperties>
</file>